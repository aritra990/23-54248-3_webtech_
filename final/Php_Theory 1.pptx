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88" r:id="rId7"/>
    <p:sldId id="266" r:id="rId8"/>
    <p:sldId id="269" r:id="rId9"/>
    <p:sldId id="267" r:id="rId10"/>
    <p:sldId id="270" r:id="rId11"/>
    <p:sldId id="287" r:id="rId12"/>
    <p:sldId id="282" r:id="rId13"/>
    <p:sldId id="289" r:id="rId14"/>
    <p:sldId id="283" r:id="rId15"/>
    <p:sldId id="280" r:id="rId16"/>
    <p:sldId id="290" r:id="rId17"/>
    <p:sldId id="284" r:id="rId18"/>
    <p:sldId id="281" r:id="rId19"/>
    <p:sldId id="285" r:id="rId20"/>
    <p:sldId id="268" r:id="rId21"/>
    <p:sldId id="286" r:id="rId22"/>
    <p:sldId id="273" r:id="rId23"/>
    <p:sldId id="271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0C24E-2E53-5459-EE15-8468BE2F97C0}" v="7" dt="2026-09-06T08:33:30.2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IQUL SAMIR AHSAN" userId="S::23-55875-3@student.aiub.edu::66a08876-1429-4b48-97ec-c6a5c44f4fe5" providerId="AD" clId="Web-{3EF0C24E-2E53-5459-EE15-8468BE2F97C0}"/>
    <pc:docChg chg="modSld">
      <pc:chgData name="RAFIQUL SAMIR AHSAN" userId="S::23-55875-3@student.aiub.edu::66a08876-1429-4b48-97ec-c6a5c44f4fe5" providerId="AD" clId="Web-{3EF0C24E-2E53-5459-EE15-8468BE2F97C0}" dt="2026-09-06T08:33:30.264" v="4" actId="20577"/>
      <pc:docMkLst>
        <pc:docMk/>
      </pc:docMkLst>
      <pc:sldChg chg="modSp">
        <pc:chgData name="RAFIQUL SAMIR AHSAN" userId="S::23-55875-3@student.aiub.edu::66a08876-1429-4b48-97ec-c6a5c44f4fe5" providerId="AD" clId="Web-{3EF0C24E-2E53-5459-EE15-8468BE2F97C0}" dt="2026-09-06T08:33:30.264" v="4" actId="20577"/>
        <pc:sldMkLst>
          <pc:docMk/>
          <pc:sldMk cId="2134390752" sldId="266"/>
        </pc:sldMkLst>
        <pc:spChg chg="mod">
          <ac:chgData name="RAFIQUL SAMIR AHSAN" userId="S::23-55875-3@student.aiub.edu::66a08876-1429-4b48-97ec-c6a5c44f4fe5" providerId="AD" clId="Web-{3EF0C24E-2E53-5459-EE15-8468BE2F97C0}" dt="2026-09-06T08:33:30.264" v="4" actId="20577"/>
          <ac:spMkLst>
            <pc:docMk/>
            <pc:sldMk cId="2134390752" sldId="266"/>
            <ac:spMk id="6" creationId="{37C26D19-85DA-834B-9600-C9820C5088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HelloWorld.php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localhost/Application/index.php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US/docs/Web/HTTP/Status" TargetMode="External"/><Relationship Id="rId2" Type="http://schemas.openxmlformats.org/officeDocument/2006/relationships/hyperlink" Target="https://www.ntu.edu.sg/home/ehchua/programming/webprogramming/HTTP_Basics.html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w3schools.com/html/html_xhtml.asp" TargetMode="External"/><Relationship Id="rId4" Type="http://schemas.openxmlformats.org/officeDocument/2006/relationships/hyperlink" Target="https://www.w3schools.com/html/html_intro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to PHP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 dirty="0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70532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 fontScale="4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400" b="1" dirty="0">
                <a:solidFill>
                  <a:schemeClr val="tx1"/>
                </a:solidFill>
              </a:rPr>
              <a:t>Learning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400" b="1" dirty="0">
                <a:solidFill>
                  <a:schemeClr val="tx1"/>
                </a:solidFill>
              </a:rPr>
              <a:t>PHP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400" b="1" dirty="0">
                <a:solidFill>
                  <a:schemeClr val="tx1"/>
                </a:solidFill>
              </a:rPr>
              <a:t>What Can PHP Do?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3400" b="1" dirty="0">
                <a:solidFill>
                  <a:schemeClr val="tx1"/>
                </a:solidFill>
              </a:rPr>
              <a:t>PHP Installation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3400" b="1" dirty="0">
                <a:solidFill>
                  <a:schemeClr val="tx1"/>
                </a:solidFill>
              </a:rPr>
              <a:t>PHP Script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400" b="1" dirty="0">
                <a:solidFill>
                  <a:schemeClr val="tx1"/>
                </a:solidFill>
              </a:rPr>
              <a:t>Run in Browser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3400" b="1" dirty="0">
                <a:solidFill>
                  <a:schemeClr val="tx1"/>
                </a:solidFill>
              </a:rPr>
              <a:t>PHP Syntax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3400" b="1" dirty="0">
                <a:solidFill>
                  <a:schemeClr val="tx1"/>
                </a:solidFill>
              </a:rPr>
              <a:t>Comments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3400" b="1" dirty="0">
                <a:solidFill>
                  <a:schemeClr val="tx1"/>
                </a:solidFill>
              </a:rPr>
              <a:t>Variables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3400" b="1" dirty="0">
                <a:solidFill>
                  <a:schemeClr val="tx1"/>
                </a:solidFill>
              </a:rPr>
              <a:t>Array 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3400" b="1" dirty="0">
                <a:solidFill>
                  <a:schemeClr val="tx1"/>
                </a:solidFill>
              </a:rPr>
              <a:t>PHP Data Types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3400" b="1" dirty="0">
                <a:solidFill>
                  <a:schemeClr val="tx1"/>
                </a:solidFill>
              </a:rPr>
              <a:t>Boolean and Array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3400" b="1" dirty="0">
                <a:solidFill>
                  <a:schemeClr val="tx1"/>
                </a:solidFill>
              </a:rPr>
              <a:t>Object</a:t>
            </a:r>
          </a:p>
          <a:p>
            <a:pPr marL="457200" lvl="0" indent="-457200">
              <a:buClr>
                <a:prstClr val="white">
                  <a:lumMod val="65000"/>
                </a:prstClr>
              </a:buClr>
              <a:buFont typeface="+mj-lt"/>
              <a:buAutoNum type="arabicPeriod"/>
            </a:pPr>
            <a:r>
              <a:rPr lang="en-US" sz="3400" b="1" dirty="0">
                <a:solidFill>
                  <a:prstClr val="black"/>
                </a:solidFill>
              </a:rPr>
              <a:t>Loop</a:t>
            </a:r>
          </a:p>
          <a:p>
            <a:pPr marL="457200" lvl="0" indent="-457200">
              <a:buClr>
                <a:prstClr val="white">
                  <a:lumMod val="65000"/>
                </a:prstClr>
              </a:buClr>
              <a:buFont typeface="+mj-lt"/>
              <a:buAutoNum type="arabicPeriod"/>
            </a:pPr>
            <a:r>
              <a:rPr lang="en-US" sz="3400" b="1" dirty="0">
                <a:solidFill>
                  <a:prstClr val="black"/>
                </a:solidFill>
              </a:rPr>
              <a:t>conditional Statement</a:t>
            </a:r>
          </a:p>
          <a:p>
            <a:pPr marL="457200" lvl="0" indent="-457200">
              <a:buClr>
                <a:prstClr val="white">
                  <a:lumMod val="65000"/>
                </a:prstClr>
              </a:buClr>
              <a:buFont typeface="+mj-lt"/>
              <a:buAutoNum type="arabicPeriod"/>
            </a:pPr>
            <a:r>
              <a:rPr lang="en-US" sz="3400" b="1" dirty="0">
                <a:solidFill>
                  <a:prstClr val="black"/>
                </a:solidFill>
              </a:rPr>
              <a:t>Functions</a:t>
            </a:r>
          </a:p>
          <a:p>
            <a:pPr marL="457200" lvl="0" indent="-457200">
              <a:buClr>
                <a:prstClr val="white">
                  <a:lumMod val="65000"/>
                </a:prstClr>
              </a:buClr>
              <a:buFont typeface="+mj-lt"/>
              <a:buAutoNum type="arabicPeriod"/>
            </a:pPr>
            <a:r>
              <a:rPr lang="en-US" sz="3400" b="1" dirty="0">
                <a:solidFill>
                  <a:prstClr val="black"/>
                </a:solidFill>
              </a:rPr>
              <a:t>Class and Object</a:t>
            </a: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this lecture , we will learn more details about "PHP: Hypertext Preprocessor“.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Discussing the advantage and importance of PHP.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Familiar with PHP language and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its basic data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structure.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416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PHP is a server scripting language, and a powerful tool for making dynamic and interactive Web pages.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PHP 8 and above is the latest stable release.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altLang="en-US" sz="2400" dirty="0"/>
              <a:t>PHP is an acronym for "PHP: Hypertext Preprocessor"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altLang="en-US" sz="2400" dirty="0"/>
              <a:t>PHP scripts are executed on the server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files can contain text, HTML, CSS, JavaScript, and PHP code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code is executed on the server, and the result is returned to the browser as plain HTML</a:t>
            </a:r>
            <a:endParaRPr lang="en-US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files have extension ".php"</a:t>
            </a:r>
            <a:endParaRPr lang="en-US" alt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Can PHP Do?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can generate dynamic page content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can create, open, read, write, delete, and close files on the server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can collect form data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can send and receive cookies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can add, delete, modify data in your database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can be used to control user-access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can encrypt data</a:t>
            </a:r>
          </a:p>
        </p:txBody>
      </p:sp>
    </p:spTree>
    <p:extLst>
      <p:ext uri="{BB962C8B-B14F-4D97-AF65-F5344CB8AC3E}">
        <p14:creationId xmlns:p14="http://schemas.microsoft.com/office/powerpoint/2010/main" val="1730396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Installation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6" y="2286001"/>
            <a:ext cx="82889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Install XAMPP in your PC or server.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XAMPP is the most popular PHP development environment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 </a:t>
            </a:r>
            <a:r>
              <a:rPr lang="en-US" sz="2400" dirty="0"/>
              <a:t>Apache + </a:t>
            </a:r>
            <a:r>
              <a:rPr lang="en-US" sz="2400" dirty="0" err="1"/>
              <a:t>MariaDB</a:t>
            </a:r>
            <a:r>
              <a:rPr lang="en-US" sz="2400" dirty="0"/>
              <a:t>(</a:t>
            </a:r>
            <a:r>
              <a:rPr lang="en-US" sz="2400" dirty="0" err="1"/>
              <a:t>Mysql</a:t>
            </a:r>
            <a:r>
              <a:rPr lang="en-US" sz="2400" dirty="0"/>
              <a:t>) + PHP + Perl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Basic PHP Syntax</a:t>
            </a:r>
          </a:p>
          <a:p>
            <a:pPr lvl="1"/>
            <a:r>
              <a:rPr lang="en-US" i="1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i="1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i="1" dirty="0">
                <a:solidFill>
                  <a:srgbClr val="FF0000"/>
                </a:solidFill>
                <a:latin typeface="Consolas" pitchFamily="49" charset="0"/>
              </a:rPr>
            </a:br>
            <a:r>
              <a:rPr lang="en-US" dirty="0">
                <a:solidFill>
                  <a:srgbClr val="FF0000"/>
                </a:solidFill>
              </a:rPr>
              <a:t>echo "Hello World!";</a:t>
            </a:r>
            <a:br>
              <a:rPr lang="en-US" i="1" dirty="0">
                <a:solidFill>
                  <a:srgbClr val="FF0000"/>
                </a:solidFill>
                <a:latin typeface="Consolas" pitchFamily="49" charset="0"/>
              </a:rPr>
            </a:br>
            <a:r>
              <a:rPr lang="en-US" i="1" dirty="0">
                <a:solidFill>
                  <a:srgbClr val="FF0000"/>
                </a:solidFill>
                <a:latin typeface="Consolas" pitchFamily="49" charset="0"/>
              </a:rPr>
              <a:t>?&gt;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Save the file as </a:t>
            </a:r>
            <a:r>
              <a:rPr lang="en-US" sz="2400" b="1" dirty="0" err="1"/>
              <a:t>HelloWorld.php</a:t>
            </a:r>
            <a:r>
              <a:rPr lang="en-US" sz="2400" dirty="0"/>
              <a:t> in </a:t>
            </a:r>
            <a:r>
              <a:rPr lang="en-US" sz="2400" dirty="0" err="1"/>
              <a:t>htdocs</a:t>
            </a:r>
            <a:r>
              <a:rPr lang="en-US" sz="2400" dirty="0"/>
              <a:t> in Apache XAMPP.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Start the server and browse </a:t>
            </a:r>
            <a:r>
              <a:rPr lang="en-US" sz="2400" dirty="0">
                <a:hlinkClick r:id="rId2"/>
              </a:rPr>
              <a:t>http://localhost/HelloWorld.php</a:t>
            </a:r>
            <a:r>
              <a:rPr lang="en-US" sz="2400" dirty="0"/>
              <a:t> in the browser. (We will see details in the Lab class.)</a:t>
            </a:r>
          </a:p>
          <a:p>
            <a:endParaRPr lang="en-US" b="1" i="1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4" y="2052729"/>
            <a:ext cx="79291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 PHP script can be placed anywhere in the document.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 PHP script starts with &lt;?</a:t>
            </a:r>
            <a:r>
              <a:rPr lang="en-US" sz="2400" dirty="0" err="1"/>
              <a:t>php</a:t>
            </a:r>
            <a:r>
              <a:rPr lang="en-US" sz="2400" dirty="0"/>
              <a:t> and ends with ?&gt;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keywords (e.g. if, else, while, echo, etc.), classes, functions, and user-defined functions are not case-sensitive.</a:t>
            </a:r>
          </a:p>
        </p:txBody>
      </p:sp>
      <p:pic>
        <p:nvPicPr>
          <p:cNvPr id="1026" name="Picture 2" descr="C:\Users\teacher\Pictures\Screenshots\Screenshot (26)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4" y="3622389"/>
            <a:ext cx="5773780" cy="251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71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 in Browser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6" y="2286001"/>
            <a:ext cx="82889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Start the server and browse </a:t>
            </a:r>
            <a:r>
              <a:rPr lang="en-US" sz="2400" dirty="0">
                <a:solidFill>
                  <a:prstClr val="black"/>
                </a:solidFill>
                <a:hlinkClick r:id="rId2"/>
              </a:rPr>
              <a:t>http://localhost/Application/index.php</a:t>
            </a:r>
            <a:r>
              <a:rPr lang="en-US" sz="2400" dirty="0">
                <a:solidFill>
                  <a:prstClr val="black"/>
                </a:solidFill>
              </a:rPr>
              <a:t> in the browser. (We will see details in the Lab class.)</a:t>
            </a:r>
          </a:p>
          <a:p>
            <a:endParaRPr lang="en-US" b="1" i="1" dirty="0">
              <a:latin typeface="Consolas" pitchFamily="49" charset="0"/>
            </a:endParaRPr>
          </a:p>
        </p:txBody>
      </p:sp>
      <p:pic>
        <p:nvPicPr>
          <p:cNvPr id="2052" name="Picture 4" descr="C:\Users\teacher\Pictures\Screenshots\Screenshot (30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85" y="3604260"/>
            <a:ext cx="4495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57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Syntax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4" y="2052729"/>
            <a:ext cx="792915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2000" dirty="0"/>
            </a:br>
            <a:r>
              <a:rPr lang="en-US" sz="2000" dirty="0">
                <a:solidFill>
                  <a:srgbClr val="008000"/>
                </a:solidFill>
                <a:latin typeface="Consolas"/>
              </a:rPr>
              <a:t>// This is a single-line comment</a:t>
            </a:r>
            <a:br>
              <a:rPr lang="en-US" sz="2000" dirty="0"/>
            </a:br>
            <a:r>
              <a:rPr lang="en-US" sz="2000" dirty="0">
                <a:solidFill>
                  <a:srgbClr val="008000"/>
                </a:solidFill>
                <a:latin typeface="Consolas"/>
              </a:rPr>
              <a:t># This is also a single-line comment</a:t>
            </a:r>
            <a:br>
              <a:rPr lang="en-US" sz="2000" dirty="0">
                <a:solidFill>
                  <a:srgbClr val="008000"/>
                </a:solidFill>
                <a:latin typeface="Consolas"/>
              </a:rPr>
            </a:br>
            <a:r>
              <a:rPr lang="en-US" sz="2000" dirty="0">
                <a:solidFill>
                  <a:srgbClr val="FF0000"/>
                </a:solidFill>
                <a:latin typeface="Consolas"/>
              </a:rPr>
              <a:t>?&gt;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2000" dirty="0"/>
            </a:br>
            <a:r>
              <a:rPr lang="en-US" sz="2000" dirty="0">
                <a:solidFill>
                  <a:srgbClr val="008000"/>
                </a:solidFill>
                <a:latin typeface="Consolas"/>
              </a:rPr>
              <a:t>/*</a:t>
            </a:r>
            <a:br>
              <a:rPr lang="en-US" sz="2000" dirty="0">
                <a:solidFill>
                  <a:srgbClr val="008000"/>
                </a:solidFill>
                <a:latin typeface="Consolas"/>
              </a:rPr>
            </a:br>
            <a:r>
              <a:rPr lang="en-US" sz="2000" dirty="0">
                <a:solidFill>
                  <a:srgbClr val="008000"/>
                </a:solidFill>
                <a:latin typeface="Consolas"/>
              </a:rPr>
              <a:t>This is a multiple-lines comment block</a:t>
            </a:r>
            <a:br>
              <a:rPr lang="en-US" sz="2000" dirty="0">
                <a:solidFill>
                  <a:srgbClr val="008000"/>
                </a:solidFill>
                <a:latin typeface="Consolas"/>
              </a:rPr>
            </a:br>
            <a:r>
              <a:rPr lang="en-US" sz="2000" dirty="0">
                <a:solidFill>
                  <a:srgbClr val="008000"/>
                </a:solidFill>
                <a:latin typeface="Consolas"/>
              </a:rPr>
              <a:t>that spans over multiple</a:t>
            </a:r>
            <a:br>
              <a:rPr lang="en-US" sz="2000" dirty="0">
                <a:solidFill>
                  <a:srgbClr val="008000"/>
                </a:solidFill>
                <a:latin typeface="Consolas"/>
              </a:rPr>
            </a:br>
            <a:r>
              <a:rPr lang="en-US" sz="2000" dirty="0">
                <a:solidFill>
                  <a:srgbClr val="008000"/>
                </a:solidFill>
                <a:latin typeface="Consolas"/>
              </a:rPr>
              <a:t>lines</a:t>
            </a:r>
            <a:br>
              <a:rPr lang="en-US" sz="2000" dirty="0">
                <a:solidFill>
                  <a:srgbClr val="008000"/>
                </a:solidFill>
                <a:latin typeface="Consolas"/>
              </a:rPr>
            </a:br>
            <a:r>
              <a:rPr lang="en-US" sz="2000" dirty="0">
                <a:solidFill>
                  <a:srgbClr val="008000"/>
                </a:solidFill>
                <a:latin typeface="Consolas"/>
              </a:rPr>
              <a:t>*/</a:t>
            </a: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  <a:latin typeface="Consolas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95051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BD298-E30A-4DD5-E74A-F027C09F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397-4091-49FD-0C3B-2704F8C88C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echo and print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B495B2A-62E3-52E5-FDC8-9F055EA93A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Printing</a:t>
            </a:r>
          </a:p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62C22C-23D0-0C1D-03A9-A5442E013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99" y="2047989"/>
            <a:ext cx="8933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wo basic ways to get output: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F2D6B3-16D0-4F4C-21C2-3537B8CCA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99" y="2475081"/>
            <a:ext cx="87064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differences are small: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has no return value while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has a return value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of 1 so it can be used in expressions.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can take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multiple parameters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(although such usage is rare) while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can take one argument.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is marginally faster than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1C43602-6CB5-FF67-CB46-A1E94C51F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14" y="3691926"/>
            <a:ext cx="8585221" cy="2536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php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DD4A6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$txt1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"Learn PHP"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$txt2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"W3Schools.com"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"&lt;h2&gt;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$txt1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&lt;/h2&gt;"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"&lt;p&gt;Study PHP at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$txt2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&lt;/p&gt;"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'&lt;h2&gt;'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$txt1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'&lt;/h2&gt;’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'&lt;p&gt;Study PHP at 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$txt2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'&lt;/p&gt;’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D4A68"/>
                </a:solidFill>
                <a:latin typeface="Consolas" panose="020B0609020204030204" pitchFamily="49" charset="0"/>
              </a:rPr>
              <a:t>?&gt; 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01C6945-3019-87F4-3E46-12A5A85E5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0149"/>
            <a:ext cx="65" cy="597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69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Syntax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4" y="2052729"/>
            <a:ext cx="79291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In PHP, a variable starts with the $ sign, followed by the name of the variable.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Variable names are case-sensitive ($age and $AGE are two different variables).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20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$txt = </a:t>
            </a:r>
            <a:r>
              <a:rPr lang="en-US" sz="2000" dirty="0">
                <a:solidFill>
                  <a:srgbClr val="A52A2A"/>
                </a:solidFill>
                <a:latin typeface="Consolas" pitchFamily="49" charset="0"/>
              </a:rPr>
              <a:t>"Hello world!"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$x = 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$y = 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</a:rPr>
              <a:t>10.5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itchFamily="49" charset="0"/>
              </a:rPr>
              <a:t>  echo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2000" dirty="0">
                <a:solidFill>
                  <a:srgbClr val="A52A2A"/>
                </a:solidFill>
                <a:latin typeface="Consolas" pitchFamily="49" charset="0"/>
              </a:rPr>
              <a:t>"I love "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 . $txt . </a:t>
            </a:r>
            <a:r>
              <a:rPr lang="en-US" sz="2000" dirty="0">
                <a:solidFill>
                  <a:srgbClr val="A52A2A"/>
                </a:solidFill>
                <a:latin typeface="Consolas" pitchFamily="49" charset="0"/>
              </a:rPr>
              <a:t>"!"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itchFamily="49" charset="0"/>
              </a:rPr>
              <a:t>  echo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 $x + $y;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2000" dirty="0">
              <a:latin typeface="Consolas" pitchFamily="49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Consolas" pitchFamily="49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30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 </a:t>
            </a:r>
            <a:r>
              <a:rPr lang="en-US" dirty="0"/>
              <a:t>Boolean and </a:t>
            </a:r>
            <a:r>
              <a:rPr lang="en-US" altLang="en-US" dirty="0"/>
              <a:t>Array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3" y="2174640"/>
            <a:ext cx="792915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PHP supports the following data types: String, Integer, Float (floating point numbers - also called double), Boolean, Array, Object, NULL.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 Boolean represents two possible states: TRUE or FALSE.</a:t>
            </a:r>
          </a:p>
          <a:p>
            <a:pPr lvl="3"/>
            <a:r>
              <a:rPr lang="en-US" dirty="0">
                <a:solidFill>
                  <a:prstClr val="black"/>
                </a:solidFill>
              </a:rPr>
              <a:t>$x = true;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prstClr val="black"/>
                </a:solidFill>
              </a:rPr>
              <a:t>$y = false;</a:t>
            </a: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An array stores multiple values in one single variable.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In the following example $cars is an array. The PHP </a:t>
            </a:r>
            <a:r>
              <a:rPr lang="en-US" sz="2000" b="1" dirty="0"/>
              <a:t>var_dump() </a:t>
            </a:r>
            <a:r>
              <a:rPr lang="en-US" sz="2000" dirty="0"/>
              <a:t>function returns the data type and value:</a:t>
            </a:r>
          </a:p>
          <a:p>
            <a:pPr lvl="3"/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$cars = </a:t>
            </a: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itchFamily="49" charset="0"/>
              </a:rPr>
              <a:t>Volvo"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dirty="0" err="1">
                <a:solidFill>
                  <a:srgbClr val="A52A2A"/>
                </a:solidFill>
                <a:latin typeface="Consolas" pitchFamily="49" charset="0"/>
              </a:rPr>
              <a:t>"BMW"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dirty="0" err="1">
                <a:solidFill>
                  <a:srgbClr val="A52A2A"/>
                </a:solidFill>
                <a:latin typeface="Consolas" pitchFamily="49" charset="0"/>
              </a:rPr>
              <a:t>"Toyota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var_dump($cars);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?&gt;</a:t>
            </a:r>
          </a:p>
          <a:p>
            <a:pPr lvl="3"/>
            <a:endParaRPr lang="en-US" dirty="0">
              <a:solidFill>
                <a:srgbClr val="FF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898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EB25-7531-C0E3-3E69-3E265845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3083-C2A2-C4B5-6483-D1AA0680A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Associative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884C27C-A969-8E2B-2684-D0F7403340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 </a:t>
            </a:r>
            <a:r>
              <a:rPr lang="en-US" dirty="0"/>
              <a:t>Associative Arrays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64E28-FB07-5847-3FFD-F1A162A52044}"/>
              </a:ext>
            </a:extLst>
          </p:cNvPr>
          <p:cNvSpPr txBox="1"/>
          <p:nvPr/>
        </p:nvSpPr>
        <p:spPr>
          <a:xfrm>
            <a:off x="252249" y="2174640"/>
            <a:ext cx="846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Associative arrays are arrays that use named keys that you assign to them.</a:t>
            </a:r>
          </a:p>
          <a:p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n-US" dirty="0">
              <a:solidFill>
                <a:srgbClr val="FF0000"/>
              </a:solidFill>
              <a:latin typeface="Consolas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493D1-8141-2826-1487-7E54B9A16D86}"/>
              </a:ext>
            </a:extLst>
          </p:cNvPr>
          <p:cNvSpPr txBox="1"/>
          <p:nvPr/>
        </p:nvSpPr>
        <p:spPr>
          <a:xfrm>
            <a:off x="257294" y="3004702"/>
            <a:ext cx="86344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"brand"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"model"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"Mustang"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"year"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1964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"model"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$car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as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s-E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s-E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s-E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s-E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732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 </a:t>
            </a:r>
            <a:r>
              <a:rPr lang="en-US" dirty="0"/>
              <a:t>PHP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3" y="2174640"/>
            <a:ext cx="79291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An object is a data type which stores data and information on how to process that data.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In PHP, an object must be explicitly declared.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&lt;?php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Car {</a:t>
            </a:r>
          </a:p>
          <a:p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function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Car() {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       $this-&gt;model = </a:t>
            </a:r>
            <a:r>
              <a:rPr lang="en-US" sz="1400" dirty="0">
                <a:solidFill>
                  <a:srgbClr val="A52A2A"/>
                </a:solidFill>
                <a:latin typeface="Consolas" pitchFamily="49" charset="0"/>
              </a:rPr>
              <a:t>"VW"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   }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}</a:t>
            </a:r>
            <a:br>
              <a:rPr lang="en-US" sz="1400" dirty="0">
                <a:latin typeface="Consolas" pitchFamily="49" charset="0"/>
              </a:rPr>
            </a:b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itchFamily="49" charset="0"/>
              </a:rPr>
              <a:t>// create an object</a:t>
            </a:r>
            <a:br>
              <a:rPr lang="en-US" sz="1400" dirty="0">
                <a:solidFill>
                  <a:srgbClr val="0080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sz="1400" dirty="0" err="1">
                <a:solidFill>
                  <a:srgbClr val="000000"/>
                </a:solidFill>
                <a:latin typeface="Consolas" pitchFamily="49" charset="0"/>
              </a:rPr>
              <a:t>herbie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 = </a:t>
            </a: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Car();</a:t>
            </a:r>
            <a:br>
              <a:rPr lang="en-US" sz="1400" dirty="0">
                <a:latin typeface="Consolas" pitchFamily="49" charset="0"/>
              </a:rPr>
            </a:b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itchFamily="49" charset="0"/>
              </a:rPr>
              <a:t>// show object properties</a:t>
            </a:r>
            <a:br>
              <a:rPr lang="en-US" sz="1400" dirty="0">
                <a:solidFill>
                  <a:srgbClr val="0080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$</a:t>
            </a:r>
            <a:r>
              <a:rPr lang="en-US" sz="1400" dirty="0" err="1">
                <a:solidFill>
                  <a:srgbClr val="000000"/>
                </a:solidFill>
                <a:latin typeface="Consolas" pitchFamily="49" charset="0"/>
              </a:rPr>
              <a:t>herbie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-&gt;model;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14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20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Loop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023265"/>
            <a:ext cx="80728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PHP while Loop and  do...while Loop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$x =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($x &lt;=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"The number is: $x &lt;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&gt;"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 $x++;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4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$x = 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400" dirty="0">
                <a:latin typeface="Consolas" pitchFamily="49" charset="0"/>
              </a:rPr>
            </a:b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do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{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400" dirty="0">
                <a:solidFill>
                  <a:srgbClr val="A52A2A"/>
                </a:solidFill>
                <a:latin typeface="Consolas" pitchFamily="49" charset="0"/>
              </a:rPr>
              <a:t>"The number is: $x &lt;</a:t>
            </a:r>
            <a:r>
              <a:rPr lang="en-US" sz="14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400" dirty="0">
                <a:solidFill>
                  <a:srgbClr val="A52A2A"/>
                </a:solidFill>
                <a:latin typeface="Consolas" pitchFamily="49" charset="0"/>
              </a:rPr>
              <a:t>&gt;"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   $x++;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} </a:t>
            </a: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($x &lt;= 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1400" dirty="0">
              <a:solidFill>
                <a:prstClr val="black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71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for and </a:t>
            </a:r>
            <a:r>
              <a:rPr lang="en-US" sz="4400" dirty="0" err="1"/>
              <a:t>foreach</a:t>
            </a:r>
            <a:r>
              <a:rPr lang="en-US" sz="4400" dirty="0"/>
              <a:t> </a:t>
            </a:r>
            <a:r>
              <a:rPr lang="en-US" dirty="0"/>
              <a:t>Loop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807284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The </a:t>
            </a:r>
            <a:r>
              <a:rPr lang="en-US" sz="2400" dirty="0" err="1"/>
              <a:t>foreach</a:t>
            </a:r>
            <a:r>
              <a:rPr lang="en-US" sz="2400" dirty="0"/>
              <a:t> loop works only on arrays, and is used to loop through each key/value pair in an array.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4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($x = 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; $x &lt;= 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; $x++)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4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400" dirty="0">
                <a:solidFill>
                  <a:srgbClr val="A52A2A"/>
                </a:solidFill>
                <a:latin typeface="Consolas" pitchFamily="49" charset="0"/>
              </a:rPr>
              <a:t>"The number is: $x &lt;</a:t>
            </a:r>
            <a:r>
              <a:rPr lang="en-US" sz="14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400" dirty="0">
                <a:solidFill>
                  <a:srgbClr val="A52A2A"/>
                </a:solidFill>
                <a:latin typeface="Consolas" pitchFamily="49" charset="0"/>
              </a:rPr>
              <a:t>&gt;"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}</a:t>
            </a:r>
            <a:br>
              <a:rPr lang="en-US" sz="1400" dirty="0">
                <a:latin typeface="Consolas" pitchFamily="49" charset="0"/>
              </a:rPr>
            </a:br>
            <a:r>
              <a:rPr lang="en-US" sz="1400" dirty="0">
                <a:solidFill>
                  <a:srgbClr val="FF0000"/>
                </a:solidFill>
                <a:latin typeface="Consolas" pitchFamily="49" charset="0"/>
              </a:rPr>
              <a:t>?&gt;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$colors =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"red"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"green"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"blue"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"yellow"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sz="1600" dirty="0">
                <a:latin typeface="Consolas" pitchFamily="49" charset="0"/>
              </a:rPr>
            </a:br>
            <a:br>
              <a:rPr lang="en-US" sz="1600" dirty="0">
                <a:latin typeface="Consolas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itchFamily="49" charset="0"/>
              </a:rPr>
              <a:t>foreach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($colors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$value) {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"$value &lt;</a:t>
            </a:r>
            <a:r>
              <a:rPr lang="en-US" sz="16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&gt;"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1600" dirty="0">
              <a:solidFill>
                <a:prstClr val="black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800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PHP conditional Statement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  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062453"/>
            <a:ext cx="7850777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Verdana"/>
              </a:rPr>
              <a:t>Conditional statements are used to perform different actions based on different conditions.</a:t>
            </a:r>
            <a:endParaRPr lang="en-US" altLang="en-US" sz="2300" dirty="0">
              <a:solidFill>
                <a:prstClr val="black"/>
              </a:solidFill>
            </a:endParaRPr>
          </a:p>
          <a:p>
            <a:pPr lvl="1"/>
            <a:r>
              <a:rPr lang="en-US" sz="1400" dirty="0">
                <a:solidFill>
                  <a:srgbClr val="0000BB"/>
                </a:solidFill>
                <a:latin typeface="Consolas" pitchFamily="49" charset="0"/>
              </a:rPr>
              <a:t>&lt;?</a:t>
            </a:r>
            <a:r>
              <a:rPr lang="en-US" sz="1400" dirty="0" err="1">
                <a:solidFill>
                  <a:srgbClr val="0000BB"/>
                </a:solidFill>
                <a:latin typeface="Consolas" pitchFamily="49" charset="0"/>
              </a:rPr>
              <a:t>php</a:t>
            </a:r>
            <a:endParaRPr lang="en-US" sz="1400" dirty="0">
              <a:solidFill>
                <a:srgbClr val="0000BB"/>
              </a:solidFill>
              <a:latin typeface="Consolas" pitchFamily="49" charset="0"/>
            </a:endParaRPr>
          </a:p>
          <a:p>
            <a:pPr lvl="1"/>
            <a:r>
              <a:rPr lang="en-US" sz="1400" dirty="0">
                <a:solidFill>
                  <a:srgbClr val="0000BB"/>
                </a:solidFill>
                <a:latin typeface="Consolas" pitchFamily="49" charset="0"/>
              </a:rPr>
              <a:t>$a =20;</a:t>
            </a:r>
          </a:p>
          <a:p>
            <a:pPr lvl="1"/>
            <a:r>
              <a:rPr lang="en-US" sz="1400" dirty="0">
                <a:solidFill>
                  <a:srgbClr val="0000BB"/>
                </a:solidFill>
                <a:latin typeface="Consolas" pitchFamily="49" charset="0"/>
              </a:rPr>
              <a:t>$b = 30;</a:t>
            </a:r>
            <a:br>
              <a:rPr lang="en-US" sz="1400" dirty="0">
                <a:solidFill>
                  <a:srgbClr val="0000BB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if (</a:t>
            </a:r>
            <a:r>
              <a:rPr lang="en-US" sz="1400" dirty="0">
                <a:solidFill>
                  <a:srgbClr val="0000BB"/>
                </a:solidFill>
                <a:latin typeface="Consolas" pitchFamily="49" charset="0"/>
              </a:rPr>
              <a:t>$a </a:t>
            </a: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&gt; </a:t>
            </a:r>
            <a:r>
              <a:rPr lang="en-US" sz="1400" dirty="0">
                <a:solidFill>
                  <a:srgbClr val="0000BB"/>
                </a:solidFill>
                <a:latin typeface="Consolas" pitchFamily="49" charset="0"/>
              </a:rPr>
              <a:t>$b</a:t>
            </a: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) {</a:t>
            </a:r>
            <a:br>
              <a:rPr lang="en-US" sz="1400" dirty="0">
                <a:solidFill>
                  <a:srgbClr val="0077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    echo </a:t>
            </a:r>
            <a:r>
              <a:rPr lang="en-US" sz="1400" dirty="0">
                <a:solidFill>
                  <a:srgbClr val="DD0000"/>
                </a:solidFill>
                <a:latin typeface="Consolas" pitchFamily="49" charset="0"/>
              </a:rPr>
              <a:t>"a is bigger than b"</a:t>
            </a: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;</a:t>
            </a:r>
            <a:br>
              <a:rPr lang="en-US" sz="1400" dirty="0">
                <a:solidFill>
                  <a:srgbClr val="0077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} </a:t>
            </a:r>
            <a:r>
              <a:rPr lang="en-US" sz="1400" dirty="0" err="1">
                <a:solidFill>
                  <a:srgbClr val="007700"/>
                </a:solidFill>
                <a:latin typeface="Consolas" pitchFamily="49" charset="0"/>
              </a:rPr>
              <a:t>elseif</a:t>
            </a: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 (</a:t>
            </a:r>
            <a:r>
              <a:rPr lang="en-US" sz="1400" dirty="0">
                <a:solidFill>
                  <a:srgbClr val="0000BB"/>
                </a:solidFill>
                <a:latin typeface="Consolas" pitchFamily="49" charset="0"/>
              </a:rPr>
              <a:t>$a </a:t>
            </a: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== </a:t>
            </a:r>
            <a:r>
              <a:rPr lang="en-US" sz="1400" dirty="0">
                <a:solidFill>
                  <a:srgbClr val="0000BB"/>
                </a:solidFill>
                <a:latin typeface="Consolas" pitchFamily="49" charset="0"/>
              </a:rPr>
              <a:t>$b</a:t>
            </a: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) {</a:t>
            </a:r>
            <a:br>
              <a:rPr lang="en-US" sz="1400" dirty="0">
                <a:solidFill>
                  <a:srgbClr val="0077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    echo </a:t>
            </a:r>
            <a:r>
              <a:rPr lang="en-US" sz="1400" dirty="0">
                <a:solidFill>
                  <a:srgbClr val="DD0000"/>
                </a:solidFill>
                <a:latin typeface="Consolas" pitchFamily="49" charset="0"/>
              </a:rPr>
              <a:t>"a is equal to b"</a:t>
            </a: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;</a:t>
            </a:r>
            <a:br>
              <a:rPr lang="en-US" sz="1400" dirty="0">
                <a:solidFill>
                  <a:srgbClr val="0077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} else {</a:t>
            </a:r>
            <a:br>
              <a:rPr lang="en-US" sz="1400" dirty="0">
                <a:solidFill>
                  <a:srgbClr val="0077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    echo </a:t>
            </a:r>
            <a:r>
              <a:rPr lang="en-US" sz="1400" dirty="0">
                <a:solidFill>
                  <a:srgbClr val="DD0000"/>
                </a:solidFill>
                <a:latin typeface="Consolas" pitchFamily="49" charset="0"/>
              </a:rPr>
              <a:t>"a is smaller than b"</a:t>
            </a: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;</a:t>
            </a:r>
            <a:br>
              <a:rPr lang="en-US" sz="1400" dirty="0">
                <a:solidFill>
                  <a:srgbClr val="0077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7700"/>
                </a:solidFill>
                <a:latin typeface="Consolas" pitchFamily="49" charset="0"/>
              </a:rPr>
              <a:t>}</a:t>
            </a:r>
            <a:br>
              <a:rPr lang="en-US" sz="1400" dirty="0">
                <a:solidFill>
                  <a:srgbClr val="007700"/>
                </a:solidFill>
                <a:latin typeface="Consolas" pitchFamily="49" charset="0"/>
              </a:rPr>
            </a:br>
            <a:r>
              <a:rPr lang="en-US" sz="1400" dirty="0">
                <a:solidFill>
                  <a:srgbClr val="0000BB"/>
                </a:solidFill>
                <a:latin typeface="Consolas" pitchFamily="49" charset="0"/>
              </a:rPr>
              <a:t>?&gt;</a:t>
            </a:r>
            <a:endParaRPr lang="en-US" sz="14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756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PHP conditional Statement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  Switch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062453"/>
            <a:ext cx="785077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itchFamily="34" charset="0"/>
              <a:buChar char="•"/>
            </a:pPr>
            <a:r>
              <a:rPr lang="en-US" altLang="en-US" dirty="0">
                <a:solidFill>
                  <a:prstClr val="black"/>
                </a:solidFill>
              </a:rPr>
              <a:t>HTTP stands for Hyper Text Transfer Protocol </a:t>
            </a:r>
            <a:r>
              <a:rPr lang="en-US" dirty="0"/>
              <a:t>The switch statement is used to perform different actions based on different conditions.</a:t>
            </a:r>
            <a:endParaRPr lang="en-US" dirty="0">
              <a:solidFill>
                <a:srgbClr val="FF0000"/>
              </a:solidFill>
              <a:latin typeface="Consolas"/>
            </a:endParaRPr>
          </a:p>
          <a:p>
            <a:pPr lvl="1"/>
            <a:r>
              <a:rPr lang="en-US" sz="14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4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$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favcolor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= </a:t>
            </a:r>
            <a:r>
              <a:rPr lang="en-US" sz="1400" dirty="0">
                <a:solidFill>
                  <a:srgbClr val="A52A2A"/>
                </a:solidFill>
                <a:latin typeface="Consolas"/>
              </a:rPr>
              <a:t>"red"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rgbClr val="0000CD"/>
                </a:solidFill>
                <a:latin typeface="Consolas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($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favcolor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{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A52A2A"/>
                </a:solidFill>
                <a:latin typeface="Consolas"/>
              </a:rPr>
              <a:t>"red"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A52A2A"/>
                </a:solidFill>
                <a:latin typeface="Consolas"/>
              </a:rPr>
              <a:t>"Your favorite color is red!"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 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A52A2A"/>
                </a:solidFill>
                <a:latin typeface="Consolas"/>
              </a:rPr>
              <a:t>"green"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      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A52A2A"/>
                </a:solidFill>
                <a:latin typeface="Consolas"/>
              </a:rPr>
              <a:t>"Your favorite color is green!"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 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      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400" dirty="0">
                <a:solidFill>
                  <a:srgbClr val="A52A2A"/>
                </a:solidFill>
                <a:latin typeface="Consolas"/>
              </a:rPr>
              <a:t>"Your favorite color is neither red, blue, nor green!"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400" dirty="0"/>
            </a:br>
            <a:r>
              <a:rPr lang="en-US" sz="14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4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426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049390"/>
            <a:ext cx="80728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has more than 1000 built-in functions, and in addition you can create your own custom functions.</a:t>
            </a:r>
          </a:p>
          <a:p>
            <a:pPr marL="342900" indent="-342900">
              <a:buFont typeface="Arial" pitchFamily="34" charset="0"/>
              <a:buChar char="•"/>
            </a:pPr>
            <a:br>
              <a:rPr lang="en-US" sz="24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addNumbers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$a,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$b) 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$a + $b;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addNumbers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altLang="en-US" sz="16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450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- Classes and Objects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04503" y="2017059"/>
            <a:ext cx="89349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&lt;?php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Fruit {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</a:t>
            </a:r>
            <a:r>
              <a:rPr lang="en-US" sz="1600" dirty="0">
                <a:solidFill>
                  <a:srgbClr val="008000"/>
                </a:solidFill>
                <a:latin typeface="Consolas" pitchFamily="49" charset="0"/>
              </a:rPr>
              <a:t>// Properties</a:t>
            </a:r>
            <a:br>
              <a:rPr lang="en-US" sz="1600" dirty="0">
                <a:solidFill>
                  <a:srgbClr val="008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$name;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</a:t>
            </a:r>
            <a:r>
              <a:rPr lang="en-US" sz="1600" dirty="0">
                <a:solidFill>
                  <a:srgbClr val="008000"/>
                </a:solidFill>
                <a:latin typeface="Consolas" pitchFamily="49" charset="0"/>
              </a:rPr>
              <a:t>// Methods</a:t>
            </a:r>
            <a:br>
              <a:rPr lang="en-US" sz="1600" dirty="0">
                <a:solidFill>
                  <a:srgbClr val="008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set_name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($name) {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$this-&gt;name = $name;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 }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get_name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() {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$this-&gt;name;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 }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$apple =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Fruit();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$apple-&gt;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set_name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'Apple'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sz="1600" dirty="0">
                <a:latin typeface="Consolas" pitchFamily="49" charset="0"/>
              </a:rPr>
            </a:b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$apple-&gt;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get_name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();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altLang="en-US" sz="16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29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>
                <a:hlinkClick r:id="rId2"/>
              </a:rPr>
              <a:t>https://www.ntu.edu.sg/home/ehchua/programming/webprogramming/HTTP_Basics.html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https://developer.mozilla.org/enUS/docs/Web/HTTP/Status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https://www.w3schools.com/html/html_intro.asp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hlinkClick r:id="rId5"/>
              </a:rPr>
              <a:t>https://www.w3schools.com/html/html_xhtml.asp</a:t>
            </a:r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9FF12A-0AD4-4E6D-94CF-9C5A7E2122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d0a431-73d2-4aed-a3b9-997dc2ad4f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08B197-12C1-45D1-9276-1CA367B2F2D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2900B01-CED2-400B-A3CE-D14978E0C4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561</TotalTime>
  <Words>1735</Words>
  <Application>Microsoft Office PowerPoint</Application>
  <PresentationFormat>On-screen Show (4:3)</PresentationFormat>
  <Paragraphs>169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Spectrum</vt:lpstr>
      <vt:lpstr>Introduction to PHP</vt:lpstr>
      <vt:lpstr>Introduction to PHP</vt:lpstr>
      <vt:lpstr>Learning Objectives</vt:lpstr>
      <vt:lpstr>PHP</vt:lpstr>
      <vt:lpstr>What Can PHP Do?</vt:lpstr>
      <vt:lpstr>PHP Installation</vt:lpstr>
      <vt:lpstr>PHP Script</vt:lpstr>
      <vt:lpstr>Run in Browser</vt:lpstr>
      <vt:lpstr>PHP Syntax</vt:lpstr>
      <vt:lpstr>PHP echo and print Statements</vt:lpstr>
      <vt:lpstr>PHP Syntax</vt:lpstr>
      <vt:lpstr>PHP Data Types</vt:lpstr>
      <vt:lpstr>PHP Associative Arrays</vt:lpstr>
      <vt:lpstr>PHP Data Types</vt:lpstr>
      <vt:lpstr>PHP Loop</vt:lpstr>
      <vt:lpstr>PHP for and foreach Loop</vt:lpstr>
      <vt:lpstr>PHP conditional Statement</vt:lpstr>
      <vt:lpstr>PHP conditional Statement</vt:lpstr>
      <vt:lpstr>PHP Functions</vt:lpstr>
      <vt:lpstr>PHP - Classes and Objects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SULTANUL ARIFEEN HAMIM</cp:lastModifiedBy>
  <cp:revision>91</cp:revision>
  <dcterms:created xsi:type="dcterms:W3CDTF">2018-12-10T17:20:29Z</dcterms:created>
  <dcterms:modified xsi:type="dcterms:W3CDTF">2026-09-06T08:33:30Z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