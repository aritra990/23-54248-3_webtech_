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8" r:id="rId4"/>
    <p:sldId id="289" r:id="rId5"/>
    <p:sldId id="283" r:id="rId6"/>
    <p:sldId id="284" r:id="rId7"/>
    <p:sldId id="282" r:id="rId8"/>
    <p:sldId id="285" r:id="rId9"/>
    <p:sldId id="290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ustak.nobi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hp.net/docs.php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.form.guide/php-form/php-order-form.html" TargetMode="External"/><Relationship Id="rId2" Type="http://schemas.openxmlformats.org/officeDocument/2006/relationships/hyperlink" Target="https://www.codeofaninja.com/2013/03/php-login-script.html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codewithawa.com/posts/admin-and-user-login-in-php-and-mysql-database" TargetMode="External"/><Relationship Id="rId4" Type="http://schemas.openxmlformats.org/officeDocument/2006/relationships/hyperlink" Target="https://www.tutorialspoint.com/php/php_login_example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 Session and Cookie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altLang="en-US" b="1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674184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</a:t>
                      </a:r>
                      <a:r>
                        <a:rPr lang="en-US" i="1" dirty="0" err="1"/>
                        <a:t>Mustak</a:t>
                      </a:r>
                      <a:r>
                        <a:rPr lang="en-US" i="1"/>
                        <a:t> Un Nobi  ( </a:t>
                      </a:r>
                      <a:r>
                        <a:rPr lang="en-US" i="1">
                          <a:hlinkClick r:id="rId2"/>
                        </a:rPr>
                        <a:t>mustak.nobi@aiub.edu</a:t>
                      </a:r>
                      <a:r>
                        <a:rPr lang="en-US" i="1"/>
                        <a:t> ) 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</a:t>
            </a:r>
            <a:r>
              <a:rPr lang="en-US" altLang="en-US" dirty="0"/>
              <a:t>WEB TECHNOLOGIES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142309"/>
            <a:ext cx="7754112" cy="394498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Learning outcome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Cookie</a:t>
            </a:r>
          </a:p>
          <a:p>
            <a:pPr marL="1485900" lvl="2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altLang="en-US" sz="2600" b="1" dirty="0">
                <a:solidFill>
                  <a:schemeClr val="tx1"/>
                </a:solidFill>
              </a:rPr>
              <a:t>Example of cookie</a:t>
            </a:r>
          </a:p>
          <a:p>
            <a:pPr marL="1485900" lvl="2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altLang="en-US" sz="2600" b="1" dirty="0">
                <a:solidFill>
                  <a:schemeClr val="tx1"/>
                </a:solidFill>
              </a:rPr>
              <a:t>Delete a Cookie</a:t>
            </a: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PHP Session</a:t>
            </a:r>
            <a:r>
              <a:rPr lang="en-US" sz="3000" b="1" dirty="0">
                <a:solidFill>
                  <a:schemeClr val="tx1"/>
                </a:solidFill>
              </a:rPr>
              <a:t> </a:t>
            </a: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sz="2600" b="1" dirty="0">
                <a:solidFill>
                  <a:schemeClr val="tx1"/>
                </a:solidFill>
              </a:rPr>
              <a:t>Example of session</a:t>
            </a: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sz="2600" b="1" dirty="0">
                <a:solidFill>
                  <a:schemeClr val="tx1"/>
                </a:solidFill>
              </a:rPr>
              <a:t>Uses of session</a:t>
            </a: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Books and References</a:t>
            </a: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endParaRPr lang="en-US" dirty="0">
              <a:solidFill>
                <a:schemeClr val="tx1"/>
              </a:solidFill>
            </a:endParaRP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/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/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altLang="en-US" sz="1800" b="1" dirty="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sz="2800" b="1" dirty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800" b="1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Learning outcome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541519" y="2135452"/>
            <a:ext cx="82295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In this lecture, we will learn temporary storage like Session &amp; Cookie and their usage using PHP.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Suppose we want to create one web application as following.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1045029" y="3536406"/>
            <a:ext cx="5669280" cy="221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400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After Login the system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966652" y="3336957"/>
            <a:ext cx="5669280" cy="27266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361620" y="1224576"/>
            <a:ext cx="8229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We can perform the following operation after successfully logged in.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In that case, we need session to track user.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b="1" dirty="0"/>
              <a:t>Sessions</a:t>
            </a:r>
            <a:r>
              <a:rPr lang="en-US" sz="2400" dirty="0"/>
              <a:t> are a simple way to store data for individual users against a unique </a:t>
            </a:r>
            <a:r>
              <a:rPr lang="en-US" sz="2400" b="1" dirty="0"/>
              <a:t>session</a:t>
            </a:r>
            <a:r>
              <a:rPr lang="en-US" sz="2400" dirty="0"/>
              <a:t> ID.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15558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 of Cookie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92221" y="1423200"/>
            <a:ext cx="825989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 pitchFamily="49" charset="0"/>
              </a:rPr>
              <a:t>php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$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cookie_name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 = 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"user"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$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cookie_value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 = 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"Alex Porter"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setcookie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($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cookie_name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, $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cookie_value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, time() + (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86400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* 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), 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"/"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);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?&gt;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html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body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 pitchFamily="49" charset="0"/>
              </a:rPr>
              <a:t>php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(!</a:t>
            </a:r>
            <a:r>
              <a:rPr lang="en-US" sz="1600" dirty="0" err="1">
                <a:solidFill>
                  <a:srgbClr val="0000CD"/>
                </a:solidFill>
                <a:latin typeface="Consolas" pitchFamily="49" charset="0"/>
              </a:rPr>
              <a:t>isset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sz="1600" dirty="0">
                <a:solidFill>
                  <a:srgbClr val="DAA520"/>
                </a:solidFill>
                <a:latin typeface="Consolas" pitchFamily="49" charset="0"/>
              </a:rPr>
              <a:t>$_COOKIE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[$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cookie_name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])) {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"Cookie named '"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. $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cookie_name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 . 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"' is not set!"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}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{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"Cookie '"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. $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cookie_name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 . 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"' is set!&lt;</a:t>
            </a:r>
            <a:r>
              <a:rPr lang="en-US" sz="1600" dirty="0" err="1">
                <a:solidFill>
                  <a:srgbClr val="A52A2A"/>
                </a:solidFill>
                <a:latin typeface="Consolas" pitchFamily="49" charset="0"/>
              </a:rPr>
              <a:t>br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&gt;"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"Value is: "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. </a:t>
            </a:r>
            <a:r>
              <a:rPr lang="en-US" sz="1600" dirty="0">
                <a:solidFill>
                  <a:srgbClr val="DAA520"/>
                </a:solidFill>
                <a:latin typeface="Consolas" pitchFamily="49" charset="0"/>
              </a:rPr>
              <a:t>$_COOKIE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[$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cookie_name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];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?&gt;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/body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/html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endParaRPr lang="en-US" sz="1600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539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Delete a Cookie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92221" y="1423200"/>
            <a:ext cx="82598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/>
              </a:rPr>
              <a:t>php</a:t>
            </a:r>
            <a:br>
              <a:rPr lang="en-US" sz="1600" dirty="0"/>
            </a:br>
            <a:r>
              <a:rPr lang="en-US" sz="1600" dirty="0">
                <a:solidFill>
                  <a:srgbClr val="008000"/>
                </a:solidFill>
                <a:latin typeface="Consolas"/>
              </a:rPr>
              <a:t>// set the expiration date to one hour ago</a:t>
            </a:r>
            <a:br>
              <a:rPr lang="en-US" sz="1600" dirty="0">
                <a:solidFill>
                  <a:srgbClr val="008000"/>
                </a:solidFill>
                <a:latin typeface="Consolas"/>
              </a:rPr>
            </a:br>
            <a:r>
              <a:rPr lang="en-US" sz="1600" dirty="0" err="1">
                <a:solidFill>
                  <a:srgbClr val="000000"/>
                </a:solidFill>
                <a:latin typeface="Consolas"/>
              </a:rPr>
              <a:t>setcookie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"user"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time() -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3600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);</a:t>
            </a:r>
            <a:br>
              <a:rPr lang="en-US" sz="1600" dirty="0"/>
            </a:br>
            <a:r>
              <a:rPr lang="en-US" sz="1600" dirty="0">
                <a:solidFill>
                  <a:srgbClr val="FF0000"/>
                </a:solidFill>
                <a:latin typeface="Consolas"/>
              </a:rPr>
              <a:t>?&gt;</a:t>
            </a:r>
            <a:endParaRPr lang="en-US" sz="1600" dirty="0">
              <a:latin typeface="Consolas" pitchFamily="49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92221" y="2647048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Check if Cookies are Enabled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335494" y="3312960"/>
            <a:ext cx="82598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/>
              </a:rPr>
              <a:t>php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(count(</a:t>
            </a:r>
            <a:r>
              <a:rPr lang="en-US" sz="1600" dirty="0">
                <a:solidFill>
                  <a:srgbClr val="DAA520"/>
                </a:solidFill>
                <a:latin typeface="Consolas"/>
              </a:rPr>
              <a:t>$_COOKIE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 &gt;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 {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"Cookies are enabled."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}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{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"Cookies are disabled."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  <a:br>
              <a:rPr lang="en-US" sz="1600" dirty="0"/>
            </a:br>
            <a:r>
              <a:rPr lang="en-US" sz="1600" dirty="0">
                <a:solidFill>
                  <a:srgbClr val="FF0000"/>
                </a:solidFill>
                <a:latin typeface="Consolas"/>
              </a:rPr>
              <a:t>?&gt;</a:t>
            </a:r>
            <a:endParaRPr lang="en-US" sz="1600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330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 Session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135452"/>
            <a:ext cx="791609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A session is a way to store information (in variables) to be used across multiple pages.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b="1" dirty="0"/>
              <a:t>Sessions</a:t>
            </a:r>
            <a:r>
              <a:rPr lang="en-US" sz="2400" dirty="0"/>
              <a:t> are a simple way to store data for individual users against a unique </a:t>
            </a:r>
            <a:r>
              <a:rPr lang="en-US" sz="2400" b="1" dirty="0"/>
              <a:t>session</a:t>
            </a:r>
            <a:r>
              <a:rPr lang="en-US" sz="2400" dirty="0"/>
              <a:t> ID.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Session variables are set with the PHP global variable: $_SESSION.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The </a:t>
            </a:r>
            <a:r>
              <a:rPr lang="en-US" sz="2400" dirty="0" err="1"/>
              <a:t>session_start</a:t>
            </a:r>
            <a:r>
              <a:rPr lang="en-US" sz="2400" dirty="0"/>
              <a:t>() function must be the very first thing in your document. Before any HTML tags.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6729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 of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92221" y="1224576"/>
            <a:ext cx="825989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/>
              </a:rPr>
              <a:t>php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 err="1">
                <a:solidFill>
                  <a:srgbClr val="000000"/>
                </a:solidFill>
                <a:latin typeface="Consolas"/>
              </a:rPr>
              <a:t>session_start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();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FF0000"/>
                </a:solidFill>
                <a:latin typeface="Consolas"/>
              </a:rPr>
              <a:t>?&gt;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!DOCTYPE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 html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html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body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1600" dirty="0"/>
            </a:br>
            <a:r>
              <a:rPr lang="en-US" sz="1600" dirty="0">
                <a:solidFill>
                  <a:srgbClr val="FF0000"/>
                </a:solidFill>
                <a:latin typeface="Consolas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/>
              </a:rPr>
              <a:t>php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8000"/>
                </a:solidFill>
                <a:latin typeface="Consolas"/>
              </a:rPr>
              <a:t>// to change a session variable, just overwrite it</a:t>
            </a:r>
            <a:br>
              <a:rPr lang="en-US" sz="1600" dirty="0">
                <a:solidFill>
                  <a:srgbClr val="008000"/>
                </a:solidFill>
                <a:latin typeface="Consolas"/>
              </a:rPr>
            </a:br>
            <a:r>
              <a:rPr lang="en-US" sz="1600" dirty="0">
                <a:solidFill>
                  <a:srgbClr val="DAA520"/>
                </a:solidFill>
                <a:latin typeface="Consolas"/>
              </a:rPr>
              <a:t>$_SESSION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52A2A"/>
                </a:solidFill>
                <a:latin typeface="Consolas"/>
              </a:rPr>
              <a:t>favcolor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 =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"yellow"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 err="1">
                <a:solidFill>
                  <a:srgbClr val="000000"/>
                </a:solidFill>
                <a:latin typeface="Consolas"/>
              </a:rPr>
              <a:t>print_r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DAA520"/>
                </a:solidFill>
                <a:latin typeface="Consolas"/>
              </a:rPr>
              <a:t>$_SESSION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);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FF0000"/>
                </a:solidFill>
                <a:latin typeface="Consolas"/>
              </a:rPr>
              <a:t>?&gt;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/body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/html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&gt;</a:t>
            </a:r>
          </a:p>
          <a:p>
            <a:endParaRPr lang="en-US" sz="1600" dirty="0">
              <a:solidFill>
                <a:srgbClr val="0000CD"/>
              </a:solidFill>
              <a:latin typeface="Consolas"/>
            </a:endParaRPr>
          </a:p>
          <a:p>
            <a:r>
              <a:rPr lang="en-US" sz="1600" b="1" dirty="0">
                <a:latin typeface="Consolas"/>
              </a:rPr>
              <a:t>To remove or destroy session.</a:t>
            </a:r>
          </a:p>
          <a:p>
            <a:endParaRPr lang="en-US" sz="1600" b="1" dirty="0">
              <a:latin typeface="Consolas"/>
            </a:endParaRPr>
          </a:p>
          <a:p>
            <a:r>
              <a:rPr lang="en-US" sz="1600" dirty="0">
                <a:solidFill>
                  <a:srgbClr val="FF0000"/>
                </a:solidFill>
                <a:latin typeface="Consolas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/>
              </a:rPr>
              <a:t>php</a:t>
            </a:r>
            <a:br>
              <a:rPr lang="en-US" sz="1600" dirty="0"/>
            </a:br>
            <a:r>
              <a:rPr lang="en-US" sz="1600" dirty="0">
                <a:solidFill>
                  <a:srgbClr val="008000"/>
                </a:solidFill>
                <a:latin typeface="Consolas"/>
              </a:rPr>
              <a:t>// remove all session variables</a:t>
            </a:r>
            <a:br>
              <a:rPr lang="en-US" sz="1600" dirty="0">
                <a:solidFill>
                  <a:srgbClr val="008000"/>
                </a:solidFill>
                <a:latin typeface="Consolas"/>
              </a:rPr>
            </a:br>
            <a:r>
              <a:rPr lang="en-US" sz="1600" dirty="0" err="1">
                <a:solidFill>
                  <a:srgbClr val="000000"/>
                </a:solidFill>
                <a:latin typeface="Consolas"/>
              </a:rPr>
              <a:t>session_unset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();</a:t>
            </a:r>
            <a:br>
              <a:rPr lang="en-US" sz="1600" dirty="0"/>
            </a:br>
            <a:r>
              <a:rPr lang="en-US" sz="1600" dirty="0">
                <a:solidFill>
                  <a:srgbClr val="FF0000"/>
                </a:solidFill>
                <a:latin typeface="Consolas"/>
              </a:rPr>
              <a:t>?&gt;</a:t>
            </a:r>
            <a:endParaRPr lang="en-US" sz="1600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893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Uses of session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57201" y="1243845"/>
            <a:ext cx="79160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PHP Login Form /Log out with Sessions.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Creating a multi-page registration form using PHP and session.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Creating a multi-page order form using PHP and Sessions.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More details, we will see in the lab class.</a:t>
            </a:r>
          </a:p>
        </p:txBody>
      </p:sp>
      <p:pic>
        <p:nvPicPr>
          <p:cNvPr id="6" name="Picture 3" descr="E:\Spring 2019-2020\Web Tech\Silde Web Tech\Back Up\Multi-Step-Signup-Form-With-CSS3-and-jQuery11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3180806"/>
            <a:ext cx="4167052" cy="3426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E:\Spring 2019-2020\Web Tech\Silde Web Tech\Back Up\multi-steps-form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2512" y="3876471"/>
            <a:ext cx="3612133" cy="1953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352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496388" y="1415086"/>
            <a:ext cx="817734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W3Schools Online Web Tutorials; URL: </a:t>
            </a:r>
            <a:r>
              <a:rPr lang="en-US" sz="2000" b="1" u="sng" dirty="0">
                <a:hlinkClick r:id="rId2"/>
              </a:rPr>
              <a:t>http://www.w3schools.com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PHP Documentation; URL: </a:t>
            </a:r>
            <a:r>
              <a:rPr lang="en-US" sz="2000" b="1" u="sng" dirty="0">
                <a:hlinkClick r:id="rId3"/>
              </a:rPr>
              <a:t>http://www.php.net/docs.php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/>
              <a:t>Sams</a:t>
            </a:r>
            <a:r>
              <a:rPr lang="en-US" sz="2000" b="1" dirty="0"/>
              <a:t> Teach Yourself Ajax JavaScript and PHP All in One; Phil Ballard and Michael </a:t>
            </a:r>
            <a:r>
              <a:rPr lang="en-US" sz="2000" b="1" dirty="0" err="1"/>
              <a:t>Moncur</a:t>
            </a:r>
            <a:r>
              <a:rPr lang="en-US" sz="2000" b="1" dirty="0"/>
              <a:t>; </a:t>
            </a:r>
            <a:r>
              <a:rPr lang="en-US" sz="2000" b="1" dirty="0" err="1"/>
              <a:t>Sams</a:t>
            </a:r>
            <a:r>
              <a:rPr lang="en-US" sz="2000" b="1" dirty="0"/>
              <a:t> Publishing; 2010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JavaScript Phrasebook; Christian </a:t>
            </a:r>
            <a:r>
              <a:rPr lang="en-US" sz="2000" b="1" dirty="0" err="1"/>
              <a:t>Wenz</a:t>
            </a:r>
            <a:r>
              <a:rPr lang="en-US" sz="2000" b="1" dirty="0"/>
              <a:t>; </a:t>
            </a:r>
            <a:r>
              <a:rPr lang="en-US" sz="2000" b="1" dirty="0" err="1"/>
              <a:t>Sams</a:t>
            </a:r>
            <a:r>
              <a:rPr lang="en-US" sz="2000" b="1" dirty="0"/>
              <a:t> Publishing; 2007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PHP and MySQL Web Development, 4/E; Luke Welling and Laura Thomson; Addison-Wesley Professional; 2009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JavaScript for Programmers Paul J. </a:t>
            </a:r>
            <a:r>
              <a:rPr lang="en-US" sz="2000" b="1" dirty="0" err="1"/>
              <a:t>Deitel</a:t>
            </a:r>
            <a:r>
              <a:rPr lang="en-US" sz="2000" b="1" dirty="0"/>
              <a:t> and Harvey M. </a:t>
            </a:r>
            <a:r>
              <a:rPr lang="en-US" sz="2000" b="1" dirty="0" err="1"/>
              <a:t>Deitel</a:t>
            </a:r>
            <a:r>
              <a:rPr lang="en-US" sz="2000" b="1" dirty="0"/>
              <a:t>; Prentice Hall; 2009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Beginning PHP5, Apache, and MySQL Web Development; Elizabeth </a:t>
            </a:r>
            <a:r>
              <a:rPr lang="en-US" sz="2000" b="1" dirty="0" err="1"/>
              <a:t>Naramore</a:t>
            </a:r>
            <a:r>
              <a:rPr lang="en-US" sz="2000" b="1" dirty="0"/>
              <a:t>, Jason </a:t>
            </a:r>
            <a:r>
              <a:rPr lang="en-US" sz="2000" b="1" dirty="0" err="1"/>
              <a:t>Gerner</a:t>
            </a:r>
            <a:r>
              <a:rPr lang="en-US" sz="2000" b="1" dirty="0"/>
              <a:t>, </a:t>
            </a:r>
            <a:r>
              <a:rPr lang="en-US" sz="2000" b="1" dirty="0" err="1"/>
              <a:t>Yann</a:t>
            </a:r>
            <a:r>
              <a:rPr lang="en-US" sz="2000" b="1" dirty="0"/>
              <a:t> Le </a:t>
            </a:r>
            <a:r>
              <a:rPr lang="en-US" sz="2000" b="1" dirty="0" err="1"/>
              <a:t>Scouarnec</a:t>
            </a:r>
            <a:r>
              <a:rPr lang="en-US" sz="2000" b="1" dirty="0"/>
              <a:t>, Jeremy </a:t>
            </a:r>
            <a:r>
              <a:rPr lang="en-US" sz="2000" b="1" dirty="0" err="1"/>
              <a:t>Stolz</a:t>
            </a:r>
            <a:r>
              <a:rPr lang="en-US" sz="2000" b="1" dirty="0"/>
              <a:t> and Michael K. Glass; Wiley Publishing; 2005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XML in a Nutshell, 3/E; </a:t>
            </a:r>
            <a:r>
              <a:rPr lang="en-US" sz="2000" b="1" dirty="0" err="1"/>
              <a:t>Elliotte</a:t>
            </a:r>
            <a:r>
              <a:rPr lang="en-US" sz="2000" b="1" dirty="0"/>
              <a:t> Rusty Harold and W. Scott Means; O'Reilly Media; 2004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3" y="2435897"/>
            <a:ext cx="77201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2"/>
              </a:rPr>
              <a:t>https://www.codeofaninja.com/2013/03/php-login-script.html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3"/>
              </a:rPr>
              <a:t>https://html.form.guide/php-form/php-order-form.html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4"/>
              </a:rPr>
              <a:t>https://www.tutorialspoint.com/php/php_login_example.htm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5"/>
              </a:rPr>
              <a:t>https://codewithawa.com/posts/admin-and-user-login-in-php-and-mysql-database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2BCDF1B2A22B4A8146FD01CC9FC177" ma:contentTypeVersion="3" ma:contentTypeDescription="Create a new document." ma:contentTypeScope="" ma:versionID="ace49fccd7147badac874e04b30a9f98">
  <xsd:schema xmlns:xsd="http://www.w3.org/2001/XMLSchema" xmlns:xs="http://www.w3.org/2001/XMLSchema" xmlns:p="http://schemas.microsoft.com/office/2006/metadata/properties" xmlns:ns2="f1d0a431-73d2-4aed-a3b9-997dc2ad4fd8" targetNamespace="http://schemas.microsoft.com/office/2006/metadata/properties" ma:root="true" ma:fieldsID="a18e933088f35d1fd24b402072cac3cf" ns2:_="">
    <xsd:import namespace="f1d0a431-73d2-4aed-a3b9-997dc2ad4f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d0a431-73d2-4aed-a3b9-997dc2ad4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8231578-3F6B-4869-A6A5-F1334C0F67D2}"/>
</file>

<file path=customXml/itemProps2.xml><?xml version="1.0" encoding="utf-8"?>
<ds:datastoreItem xmlns:ds="http://schemas.openxmlformats.org/officeDocument/2006/customXml" ds:itemID="{1E6FC98B-EE31-460E-81D3-7C6D9A963CEB}"/>
</file>

<file path=customXml/itemProps3.xml><?xml version="1.0" encoding="utf-8"?>
<ds:datastoreItem xmlns:ds="http://schemas.openxmlformats.org/officeDocument/2006/customXml" ds:itemID="{BB45C4D1-1E00-457C-88C8-04437ED19ADA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263</TotalTime>
  <Words>811</Words>
  <Application>Microsoft Office PowerPoint</Application>
  <PresentationFormat>On-screen Show (4:3)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Consolas</vt:lpstr>
      <vt:lpstr>Corbel</vt:lpstr>
      <vt:lpstr>Wingdings</vt:lpstr>
      <vt:lpstr>Spectrum</vt:lpstr>
      <vt:lpstr>PHP Session and Cookie</vt:lpstr>
      <vt:lpstr>Lecture Outline</vt:lpstr>
      <vt:lpstr>Learning outcome </vt:lpstr>
      <vt:lpstr>PowerPoint Presentation</vt:lpstr>
      <vt:lpstr>PowerPoint Presentation</vt:lpstr>
      <vt:lpstr>PowerPoint Presentation</vt:lpstr>
      <vt:lpstr>PHP Session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MD. MUSTAK UN NOBI</cp:lastModifiedBy>
  <cp:revision>82</cp:revision>
  <dcterms:created xsi:type="dcterms:W3CDTF">2018-12-10T17:20:29Z</dcterms:created>
  <dcterms:modified xsi:type="dcterms:W3CDTF">2024-10-30T09:05:09Z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0x0101001B2BCDF1B2A22B4A8146FD01CC9FC177</vt:lpwstr>
  </property>
</Properties>
</file>