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89" r:id="rId7"/>
    <p:sldId id="266" r:id="rId8"/>
    <p:sldId id="284" r:id="rId9"/>
    <p:sldId id="298" r:id="rId10"/>
    <p:sldId id="299" r:id="rId11"/>
    <p:sldId id="292" r:id="rId12"/>
    <p:sldId id="293" r:id="rId13"/>
    <p:sldId id="294" r:id="rId14"/>
    <p:sldId id="295" r:id="rId15"/>
    <p:sldId id="296" r:id="rId16"/>
    <p:sldId id="297" r:id="rId17"/>
    <p:sldId id="282" r:id="rId18"/>
    <p:sldId id="290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E11FA2-A6AB-97F3-F368-8D340CCFDF01}" v="2" dt="2026-08-24T16:37:07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249" autoAdjust="0"/>
  </p:normalViewPr>
  <p:slideViewPr>
    <p:cSldViewPr snapToGrid="0" snapToObjects="1">
      <p:cViewPr varScale="1">
        <p:scale>
          <a:sx n="68" d="100"/>
          <a:sy n="68" d="100"/>
        </p:scale>
        <p:origin x="12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MA AKTER" userId="S::23-52610-2@student.aiub.edu::0cd1f9aa-df65-4ebe-a6b5-1b8a3902e471" providerId="AD" clId="Web-{F2E11FA2-A6AB-97F3-F368-8D340CCFDF01}"/>
    <pc:docChg chg="modSld">
      <pc:chgData name="RUMA AKTER" userId="S::23-52610-2@student.aiub.edu::0cd1f9aa-df65-4ebe-a6b5-1b8a3902e471" providerId="AD" clId="Web-{F2E11FA2-A6AB-97F3-F368-8D340CCFDF01}" dt="2026-08-24T16:37:07.365" v="1" actId="1076"/>
      <pc:docMkLst>
        <pc:docMk/>
      </pc:docMkLst>
      <pc:sldChg chg="modSp">
        <pc:chgData name="RUMA AKTER" userId="S::23-52610-2@student.aiub.edu::0cd1f9aa-df65-4ebe-a6b5-1b8a3902e471" providerId="AD" clId="Web-{F2E11FA2-A6AB-97F3-F368-8D340CCFDF01}" dt="2026-08-24T16:37:07.365" v="1" actId="1076"/>
        <pc:sldMkLst>
          <pc:docMk/>
          <pc:sldMk cId="2134390752" sldId="266"/>
        </pc:sldMkLst>
        <pc:picChg chg="mod">
          <ac:chgData name="RUMA AKTER" userId="S::23-52610-2@student.aiub.edu::0cd1f9aa-df65-4ebe-a6b5-1b8a3902e471" providerId="AD" clId="Web-{F2E11FA2-A6AB-97F3-F368-8D340CCFDF01}" dt="2026-08-24T16:37:07.365" v="1" actId="1076"/>
          <ac:picMkLst>
            <pc:docMk/>
            <pc:sldMk cId="2134390752" sldId="266"/>
            <ac:picMk id="102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forms.asp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78342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 Form Handling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 Form Validation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lecture , we will learn more details about </a:t>
            </a:r>
            <a:r>
              <a:rPr lang="en-US" sz="2800" dirty="0"/>
              <a:t>HTML form elements i.e. different type of form, designing different type of HTML form.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We will also learn HTTP GET and POST.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Handling form data using $_GET or $_POST methods and validations form data using PHP.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19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PHP </a:t>
            </a:r>
            <a:r>
              <a:rPr lang="en-US" sz="2400" dirty="0" err="1"/>
              <a:t>superglobals</a:t>
            </a:r>
            <a:r>
              <a:rPr lang="en-US" sz="2400" dirty="0"/>
              <a:t> </a:t>
            </a:r>
            <a:r>
              <a:rPr lang="en-US" sz="2400" b="1" dirty="0"/>
              <a:t>$_GET </a:t>
            </a:r>
            <a:r>
              <a:rPr lang="en-US" sz="2400" dirty="0"/>
              <a:t>and </a:t>
            </a:r>
            <a:r>
              <a:rPr lang="en-US" sz="2400" b="1" dirty="0"/>
              <a:t>$_POST </a:t>
            </a:r>
            <a:r>
              <a:rPr lang="en-US" sz="2400" dirty="0"/>
              <a:t>are used to collect form-data.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example displays a simple HTML form with two input fields and a submit button using “get” and “post”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And See the difference.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form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action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itchFamily="49" charset="0"/>
              </a:rPr>
              <a:t>welcome.php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</a:rPr>
              <a:t>method</a:t>
            </a:r>
            <a:r>
              <a:rPr lang="en-US" sz="1600" b="1" dirty="0">
                <a:solidFill>
                  <a:srgbClr val="0000CD"/>
                </a:solidFill>
                <a:latin typeface="Consolas" pitchFamily="49" charset="0"/>
              </a:rPr>
              <a:t>="post"&gt;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Name: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="text"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name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=“name"&gt;&lt;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E-mail: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="text"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name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="email"&gt;&lt;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="submit"&gt;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/form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endParaRPr lang="en-US" altLang="en-US" sz="1600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027" name="Picture 3" descr="C:\Users\teacher\Pictures\Screenshots\Screenshot (3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82" y="5325573"/>
            <a:ext cx="2861483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same result could also be achieved using the HTTP GET/POST method: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/>
              <a:t>Welcome.</a:t>
            </a:r>
            <a:r>
              <a:rPr lang="en-US" sz="2400" dirty="0" err="1"/>
              <a:t>php</a:t>
            </a:r>
            <a:r>
              <a:rPr lang="en-US" sz="2400" dirty="0"/>
              <a:t> file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&lt;html&gt;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Welcome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&lt;?php echo </a:t>
            </a:r>
            <a:r>
              <a:rPr lang="en-US" dirty="0"/>
              <a:t> </a:t>
            </a:r>
            <a:r>
              <a:rPr lang="en-US" b="1" dirty="0"/>
              <a:t>$_POST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[“name"]; ?&gt;&lt;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Your email address is: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&lt;?php echo $_POST["email"]; ?&gt;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&lt;/html&gt;</a:t>
            </a:r>
            <a:endParaRPr lang="en-US" altLang="en-US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HTTP GET</a:t>
            </a:r>
          </a:p>
        </p:txBody>
      </p:sp>
    </p:spTree>
    <p:extLst>
      <p:ext uri="{BB962C8B-B14F-4D97-AF65-F5344CB8AC3E}">
        <p14:creationId xmlns:p14="http://schemas.microsoft.com/office/powerpoint/2010/main" val="26845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DE-2FCA-4D5B-BE4E-94A25609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2736DB-C8A6-45B5-859A-8A579D057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275992"/>
              </p:ext>
            </p:extLst>
          </p:nvPr>
        </p:nvGraphicFramePr>
        <p:xfrm>
          <a:off x="420538" y="1904144"/>
          <a:ext cx="8437712" cy="332944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526492">
                  <a:extLst>
                    <a:ext uri="{9D8B030D-6E8A-4147-A177-3AD203B41FA5}">
                      <a16:colId xmlns:a16="http://schemas.microsoft.com/office/drawing/2014/main" val="998353734"/>
                    </a:ext>
                  </a:extLst>
                </a:gridCol>
                <a:gridCol w="2941145">
                  <a:extLst>
                    <a:ext uri="{9D8B030D-6E8A-4147-A177-3AD203B41FA5}">
                      <a16:colId xmlns:a16="http://schemas.microsoft.com/office/drawing/2014/main" val="2355860821"/>
                    </a:ext>
                  </a:extLst>
                </a:gridCol>
                <a:gridCol w="2970075">
                  <a:extLst>
                    <a:ext uri="{9D8B030D-6E8A-4147-A177-3AD203B41FA5}">
                      <a16:colId xmlns:a16="http://schemas.microsoft.com/office/drawing/2014/main" val="199796080"/>
                    </a:ext>
                  </a:extLst>
                </a:gridCol>
              </a:tblGrid>
              <a:tr h="3366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30658647"/>
                  </a:ext>
                </a:extLst>
              </a:tr>
              <a:tr h="115952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BACK button/Reload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Harmless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Data will be re-submitted (the browser should alert the user that the data are about to be re-submitted)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45205657"/>
                  </a:ext>
                </a:extLst>
              </a:tr>
              <a:tr h="3366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Bookmarked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 be bookmarked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Cannot be bookmarked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632301312"/>
                  </a:ext>
                </a:extLst>
              </a:tr>
              <a:tr h="3366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Cached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 be cached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Not cached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3743342592"/>
                  </a:ext>
                </a:extLst>
              </a:tr>
              <a:tr h="115952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Encoding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endParaRPr lang="en-US" sz="1800" dirty="0">
                        <a:effectLst/>
                      </a:endParaRP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r>
                        <a:rPr lang="en-US" sz="1800" dirty="0">
                          <a:effectLst/>
                        </a:rPr>
                        <a:t> or multipart/form-data. Use multipart encoding for binary data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70901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1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B82-79B7-47E6-9CE3-DA64FBC0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026F4E-E97F-47B9-89A5-A7049CC1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652798"/>
              </p:ext>
            </p:extLst>
          </p:nvPr>
        </p:nvGraphicFramePr>
        <p:xfrm>
          <a:off x="420538" y="1608320"/>
          <a:ext cx="8437712" cy="52496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526492">
                  <a:extLst>
                    <a:ext uri="{9D8B030D-6E8A-4147-A177-3AD203B41FA5}">
                      <a16:colId xmlns:a16="http://schemas.microsoft.com/office/drawing/2014/main" val="788795704"/>
                    </a:ext>
                  </a:extLst>
                </a:gridCol>
                <a:gridCol w="2941145">
                  <a:extLst>
                    <a:ext uri="{9D8B030D-6E8A-4147-A177-3AD203B41FA5}">
                      <a16:colId xmlns:a16="http://schemas.microsoft.com/office/drawing/2014/main" val="3802308499"/>
                    </a:ext>
                  </a:extLst>
                </a:gridCol>
                <a:gridCol w="2970075">
                  <a:extLst>
                    <a:ext uri="{9D8B030D-6E8A-4147-A177-3AD203B41FA5}">
                      <a16:colId xmlns:a16="http://schemas.microsoft.com/office/drawing/2014/main" val="4013008490"/>
                    </a:ext>
                  </a:extLst>
                </a:gridCol>
              </a:tblGrid>
              <a:tr h="36364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History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remain in browser history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are not saved in browser history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202911494"/>
                  </a:ext>
                </a:extLst>
              </a:tr>
              <a:tr h="7905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Restrictions on data length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Yes, when sending data, the GET method adds the data to the URL; and the length of a URL is limited (maximum URL length is 2048 characters)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596713282"/>
                  </a:ext>
                </a:extLst>
              </a:tr>
              <a:tr h="36364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Restrictions on data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Only ASCII characters allowed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restrictions. Binary data is also allowed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774669534"/>
                  </a:ext>
                </a:extLst>
              </a:tr>
              <a:tr h="107511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Security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GET is less secure compared to POST because data sent is part of the URL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Never use GET when sending passwords or other sensitive information!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POST is a little safer than GET because the parameters are not stored in browser history or in web server logs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35816963"/>
                  </a:ext>
                </a:extLst>
              </a:tr>
              <a:tr h="36364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Visibility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visible to everyone in the URL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not displayed in the URL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37612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23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DBFF-343C-4459-8053-A60282CD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PHP  </a:t>
            </a:r>
            <a:r>
              <a:rPr lang="en-US" dirty="0" err="1"/>
              <a:t>Superglobals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BEE0-7902-40C0-8CAA-3B935FB40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02" y="1621668"/>
            <a:ext cx="8574087" cy="49002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Some predefined variables in PHP are "</a:t>
            </a:r>
            <a:r>
              <a:rPr lang="en-US" sz="1400" dirty="0" err="1"/>
              <a:t>superglobals</a:t>
            </a:r>
            <a:r>
              <a:rPr lang="en-US" sz="1400" dirty="0"/>
              <a:t>", which means that they are always accessible, regardless of scope - and you can access them from any function, class or file without having to do anything special.</a:t>
            </a:r>
          </a:p>
          <a:p>
            <a:pPr marL="0" indent="0">
              <a:buNone/>
            </a:pPr>
            <a:r>
              <a:rPr lang="en-US" sz="1400" dirty="0"/>
              <a:t>The PHP </a:t>
            </a:r>
            <a:r>
              <a:rPr lang="en-US" sz="1400" dirty="0" err="1"/>
              <a:t>superglobal</a:t>
            </a:r>
            <a:r>
              <a:rPr lang="en-US" sz="1400" dirty="0"/>
              <a:t> variables are:</a:t>
            </a:r>
          </a:p>
          <a:p>
            <a:r>
              <a:rPr lang="en-US" sz="1400" dirty="0"/>
              <a:t>$GLOBALS</a:t>
            </a:r>
          </a:p>
          <a:p>
            <a:r>
              <a:rPr lang="en-US" sz="1400" dirty="0"/>
              <a:t>$_SERVER</a:t>
            </a:r>
          </a:p>
          <a:p>
            <a:r>
              <a:rPr lang="en-US" sz="1400" dirty="0"/>
              <a:t>$_REQUEST</a:t>
            </a:r>
          </a:p>
          <a:p>
            <a:r>
              <a:rPr lang="en-US" sz="1400" dirty="0"/>
              <a:t>$_POST</a:t>
            </a:r>
          </a:p>
          <a:p>
            <a:r>
              <a:rPr lang="en-US" sz="1400" dirty="0"/>
              <a:t>$_GET</a:t>
            </a:r>
          </a:p>
          <a:p>
            <a:r>
              <a:rPr lang="en-US" sz="1400" dirty="0"/>
              <a:t>$_FILES</a:t>
            </a:r>
          </a:p>
          <a:p>
            <a:r>
              <a:rPr lang="en-US" sz="1400" dirty="0"/>
              <a:t>$_ENV</a:t>
            </a:r>
          </a:p>
          <a:p>
            <a:r>
              <a:rPr lang="en-US" sz="1400" dirty="0"/>
              <a:t>$_COOKIE</a:t>
            </a:r>
          </a:p>
          <a:p>
            <a:r>
              <a:rPr lang="en-US" sz="1400" dirty="0"/>
              <a:t>$_SESSION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129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39D3-ACF3-45BF-9968-3E80AE4A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PHP $GLOBALS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7CD4-F489-4C96-AA55-52136183A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725637"/>
            <a:ext cx="8574087" cy="3992563"/>
          </a:xfrm>
        </p:spPr>
        <p:txBody>
          <a:bodyPr/>
          <a:lstStyle/>
          <a:p>
            <a:r>
              <a:rPr lang="en-US" dirty="0"/>
              <a:t>$GLOBALS is a PHP super global variable which is used to access global variables from anywhere in the PHP script (also from within functions or methods).</a:t>
            </a:r>
          </a:p>
          <a:p>
            <a:r>
              <a:rPr lang="en-US" dirty="0"/>
              <a:t>PHP stores all global variables in an array called $GLOBALS[</a:t>
            </a:r>
            <a:r>
              <a:rPr lang="en-US" i="1" dirty="0"/>
              <a:t>index</a:t>
            </a:r>
            <a:r>
              <a:rPr lang="en-US" dirty="0"/>
              <a:t>]. The </a:t>
            </a:r>
            <a:r>
              <a:rPr lang="en-US" i="1" dirty="0"/>
              <a:t>index</a:t>
            </a:r>
            <a:r>
              <a:rPr lang="en-US" dirty="0"/>
              <a:t> holds the name of the variable.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EDFCD-D590-48A5-A694-FF85DE1DC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07" y="3873443"/>
            <a:ext cx="5363637" cy="272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0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3E55-0BBF-45E3-992C-49D36DF0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PHP $_SERVER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22B3-6926-4F13-99CB-5C803A0F6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739704"/>
            <a:ext cx="8574087" cy="3992563"/>
          </a:xfrm>
        </p:spPr>
        <p:txBody>
          <a:bodyPr/>
          <a:lstStyle/>
          <a:p>
            <a:r>
              <a:rPr lang="en-US" dirty="0"/>
              <a:t>$_SERVER is a PHP super global variable which holds information about headers, paths, and script locations.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A3DB4-4B0C-45B9-A9B6-91AB6D6DD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302" y="2612220"/>
            <a:ext cx="5533316" cy="399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1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AF9D-36E2-425B-86CB-BBB1C36C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PHP $_REQUEST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E781D-CE88-413E-9D7E-8CDECE3C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635736"/>
            <a:ext cx="8574087" cy="3992563"/>
          </a:xfrm>
        </p:spPr>
        <p:txBody>
          <a:bodyPr/>
          <a:lstStyle/>
          <a:p>
            <a:r>
              <a:rPr lang="en-US" dirty="0"/>
              <a:t>PHP $_REQUEST is a PHP super global variable which is used to collect data after submitting an HTML form.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FD754-C7BF-442B-8B7B-E037D9CD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00" y="2441550"/>
            <a:ext cx="6827374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8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6AC6-D262-41F1-A9DF-07468267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PHP $_POST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F8B1-8757-457D-A419-5056245F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781908"/>
            <a:ext cx="8761363" cy="399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PHP $_POST is a PHP super global variable which is used to collect form data after submitting an HTML form with method="post". $_POST is also widely used to pass variables.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1316B-D34B-4C1A-8908-24C25E3E4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2947767"/>
            <a:ext cx="56864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1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B169-A2FC-4E39-B2E0-173BE16A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PHP $_GET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FD10-77E7-4B4E-B508-1C35219B4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01" y="1739705"/>
            <a:ext cx="8469449" cy="3992563"/>
          </a:xfrm>
        </p:spPr>
        <p:txBody>
          <a:bodyPr/>
          <a:lstStyle/>
          <a:p>
            <a:r>
              <a:rPr lang="en-US" dirty="0"/>
              <a:t>PHP $_GET is a PHP super global variable which is used to collect form data after submitting an HTML form with method="get".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408CE-0E14-4DE6-980C-AE6BE800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30" y="3206921"/>
            <a:ext cx="7378672" cy="28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52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Form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Proper validation of form data is important to protect your form from hackers and spammers!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Lets consider the example.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 descr="C:\Users\teacher\Pictures\Screenshots\Screenshot (36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10" y="3448594"/>
            <a:ext cx="4846320" cy="316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481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PHP Form Validation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4137" y="1325554"/>
            <a:ext cx="8321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When your validation is passed, the hold the data in object.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Now write a class for student using name, email, etc. attributes(See the form).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Use this student object to hold the student data. </a:t>
            </a:r>
          </a:p>
        </p:txBody>
      </p:sp>
    </p:spTree>
    <p:extLst>
      <p:ext uri="{BB962C8B-B14F-4D97-AF65-F5344CB8AC3E}">
        <p14:creationId xmlns:p14="http://schemas.microsoft.com/office/powerpoint/2010/main" val="153116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https://www.w3schools.com/php/php_forms.asp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DAE50D-7BAD-4D57-AAEB-F521F35D2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d0a431-73d2-4aed-a3b9-997dc2ad4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C49CA5-51AE-4007-B233-DA253A122F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3BF978A-DB34-4632-A5DF-EA18CE3C13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580</TotalTime>
  <Words>1005</Words>
  <Application>Microsoft Office PowerPoint</Application>
  <PresentationFormat>On-screen Show (4:3)</PresentationFormat>
  <Paragraphs>117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Spectrum</vt:lpstr>
      <vt:lpstr>PHP Form Validation</vt:lpstr>
      <vt:lpstr>Lecture Outline</vt:lpstr>
      <vt:lpstr>Learning Objectives</vt:lpstr>
      <vt:lpstr>PHP Form Handling</vt:lpstr>
      <vt:lpstr>PHP Form Handling</vt:lpstr>
      <vt:lpstr>METHOD: GET vs. POST</vt:lpstr>
      <vt:lpstr>METHOD: GET vs. POST</vt:lpstr>
      <vt:lpstr>PHP  Superglobals </vt:lpstr>
      <vt:lpstr>PHP $GLOBALS</vt:lpstr>
      <vt:lpstr>PHP $_SERVER </vt:lpstr>
      <vt:lpstr>PHP $_REQUEST </vt:lpstr>
      <vt:lpstr>PHP $_POST </vt:lpstr>
      <vt:lpstr>PHP $_GET</vt:lpstr>
      <vt:lpstr>PHP Form Validation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105</cp:revision>
  <dcterms:created xsi:type="dcterms:W3CDTF">2018-12-10T17:20:29Z</dcterms:created>
  <dcterms:modified xsi:type="dcterms:W3CDTF">2026-08-24T16:37:10Z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