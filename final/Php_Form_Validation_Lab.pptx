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9" r:id="rId4"/>
    <p:sldId id="266" r:id="rId5"/>
    <p:sldId id="283" r:id="rId6"/>
    <p:sldId id="284" r:id="rId7"/>
    <p:sldId id="285" r:id="rId8"/>
    <p:sldId id="282" r:id="rId9"/>
    <p:sldId id="286" r:id="rId10"/>
    <p:sldId id="290" r:id="rId11"/>
    <p:sldId id="291" r:id="rId12"/>
    <p:sldId id="292" r:id="rId13"/>
    <p:sldId id="293" r:id="rId14"/>
    <p:sldId id="295" r:id="rId15"/>
    <p:sldId id="296" r:id="rId16"/>
    <p:sldId id="298" r:id="rId17"/>
    <p:sldId id="294" r:id="rId18"/>
    <p:sldId id="264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9CFB56-E037-481A-B6B7-13F022EBCCC0}" v="22" dt="2024-06-10T11:14:21.7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2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hp/func_var_empty.as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hp/func_var_isset.as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hp/func_regex_preg_match.asp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docs.php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hp/php_forms.asp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31884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/>
                        <a:t> Un Nobi  ( </a:t>
                      </a:r>
                      <a:r>
                        <a:rPr lang="en-US" i="1">
                          <a:hlinkClick r:id="rId2"/>
                        </a:rPr>
                        <a:t>mustak.nobi@aiub.edu</a:t>
                      </a:r>
                      <a:r>
                        <a:rPr lang="en-US" i="1"/>
                        <a:t> )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142309"/>
            <a:ext cx="7754112" cy="39449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Learning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PHP Form Handling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100" b="1" dirty="0">
                <a:solidFill>
                  <a:schemeClr val="tx1"/>
                </a:solidFill>
              </a:rPr>
              <a:t>HTTP POST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100" b="1" dirty="0">
                <a:solidFill>
                  <a:schemeClr val="tx1"/>
                </a:solidFill>
              </a:rPr>
              <a:t>HTTP GET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sz="2100" b="1" dirty="0">
                <a:solidFill>
                  <a:schemeClr val="tx1"/>
                </a:solidFill>
              </a:rPr>
              <a:t> HTTP GET </a:t>
            </a:r>
            <a:r>
              <a:rPr lang="en-US" sz="2100" b="1" dirty="0" err="1">
                <a:solidFill>
                  <a:schemeClr val="tx1"/>
                </a:solidFill>
              </a:rPr>
              <a:t>vs</a:t>
            </a:r>
            <a:r>
              <a:rPr lang="en-US" sz="2100" b="1" dirty="0">
                <a:solidFill>
                  <a:schemeClr val="tx1"/>
                </a:solidFill>
              </a:rPr>
              <a:t> HTTP POST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PHP Form Validation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Books and References</a:t>
            </a:r>
            <a:endParaRPr lang="en-US" dirty="0">
              <a:solidFill>
                <a:schemeClr val="tx1"/>
              </a:solidFill>
            </a:endParaRP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2800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this Lab, we will learn more details about </a:t>
            </a:r>
            <a:r>
              <a:rPr lang="en-US" sz="2800" dirty="0"/>
              <a:t>HTML form elements i.e. different type of form, designing different type of HTML form and form action.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We will also learn HTTP GET and POST.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Handling form data using $_GET or $_POST methods and validations form data using PHP.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429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Form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The PHP </a:t>
            </a:r>
            <a:r>
              <a:rPr lang="en-US" sz="2400" dirty="0" err="1"/>
              <a:t>superglobals</a:t>
            </a:r>
            <a:r>
              <a:rPr lang="en-US" sz="2400" dirty="0"/>
              <a:t> </a:t>
            </a:r>
            <a:r>
              <a:rPr lang="en-US" sz="2400" b="1" dirty="0"/>
              <a:t>$_GET </a:t>
            </a:r>
            <a:r>
              <a:rPr lang="en-US" sz="2400" dirty="0"/>
              <a:t>and </a:t>
            </a:r>
            <a:r>
              <a:rPr lang="en-US" sz="2400" b="1" dirty="0"/>
              <a:t>$_POST </a:t>
            </a:r>
            <a:r>
              <a:rPr lang="en-US" sz="2400" dirty="0"/>
              <a:t>are used to collect form-data.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The example displays a simple HTML form with two input fields and a submit button: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html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body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form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action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</a:t>
            </a:r>
            <a:r>
              <a:rPr lang="en-US" sz="1600" dirty="0" err="1">
                <a:solidFill>
                  <a:srgbClr val="0000CD"/>
                </a:solidFill>
                <a:latin typeface="Consolas" pitchFamily="49" charset="0"/>
              </a:rPr>
              <a:t>welcome.php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"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</a:t>
            </a:r>
            <a:r>
              <a:rPr lang="en-US" sz="1600" b="1" dirty="0">
                <a:solidFill>
                  <a:srgbClr val="FF0000"/>
                </a:solidFill>
                <a:latin typeface="Consolas" pitchFamily="49" charset="0"/>
              </a:rPr>
              <a:t>method</a:t>
            </a:r>
            <a:r>
              <a:rPr lang="en-US" sz="1600" b="1" dirty="0">
                <a:solidFill>
                  <a:srgbClr val="0000CD"/>
                </a:solidFill>
                <a:latin typeface="Consolas" pitchFamily="49" charset="0"/>
              </a:rPr>
              <a:t>="post"&gt;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Name: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="text"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name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="name"&gt;&lt;</a:t>
            </a:r>
            <a:r>
              <a:rPr lang="en-US" sz="1600" dirty="0" err="1">
                <a:solidFill>
                  <a:srgbClr val="A52A2A"/>
                </a:solidFill>
                <a:latin typeface="Consolas" pitchFamily="49" charset="0"/>
              </a:rPr>
              <a:t>br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E-mail: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="text"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name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="email"&gt;&lt;</a:t>
            </a:r>
            <a:r>
              <a:rPr lang="en-US" sz="1600" dirty="0" err="1">
                <a:solidFill>
                  <a:srgbClr val="A52A2A"/>
                </a:solidFill>
                <a:latin typeface="Consolas" pitchFamily="49" charset="0"/>
              </a:rPr>
              <a:t>br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input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 type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="submit"&gt;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/form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/body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/html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&gt;</a:t>
            </a:r>
            <a:endParaRPr lang="en-US" altLang="en-US" sz="1600" dirty="0">
              <a:latin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027" name="Picture 3" descr="C:\Users\teacher\Pictures\Screenshots\Screenshot (33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834" y="4991509"/>
            <a:ext cx="2861483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Form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When the user fills out the form and clicks the submit button, the form data is sent for processing to a PHP file named "</a:t>
            </a:r>
            <a:r>
              <a:rPr lang="en-US" sz="2400" dirty="0" err="1"/>
              <a:t>welcome.php</a:t>
            </a:r>
            <a:r>
              <a:rPr lang="en-US" sz="2400" dirty="0"/>
              <a:t>". The form data is sent with the HTTP POST method.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err="1"/>
              <a:t>welcome.php</a:t>
            </a:r>
            <a:r>
              <a:rPr lang="en-US" sz="2400" dirty="0"/>
              <a:t> file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&lt;html&gt;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&lt;body&gt;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Welcome 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&lt;?</a:t>
            </a:r>
            <a:r>
              <a:rPr lang="en-US" b="1" dirty="0" err="1">
                <a:solidFill>
                  <a:srgbClr val="000000"/>
                </a:solidFill>
                <a:latin typeface="Consolas" pitchFamily="49" charset="0"/>
              </a:rPr>
              <a:t>php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 echo $_POST["name"]; ?&gt;&lt;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br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Your email address is: 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&lt;?</a:t>
            </a:r>
            <a:r>
              <a:rPr lang="en-US" b="1" dirty="0" err="1">
                <a:solidFill>
                  <a:srgbClr val="000000"/>
                </a:solidFill>
                <a:latin typeface="Consolas" pitchFamily="49" charset="0"/>
              </a:rPr>
              <a:t>php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 echo $_POST["email"]; ?&gt;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&lt;/body&gt;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&lt;/html&gt;</a:t>
            </a:r>
            <a:endParaRPr lang="en-US" altLang="en-US" dirty="0">
              <a:latin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HTTP POST</a:t>
            </a:r>
          </a:p>
        </p:txBody>
      </p:sp>
    </p:spTree>
    <p:extLst>
      <p:ext uri="{BB962C8B-B14F-4D97-AF65-F5344CB8AC3E}">
        <p14:creationId xmlns:p14="http://schemas.microsoft.com/office/powerpoint/2010/main" val="425399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Form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The same result could also be achieved using the HTTP GET method: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err="1"/>
              <a:t>Welcome_get.php</a:t>
            </a:r>
            <a:r>
              <a:rPr lang="en-US" sz="2400" dirty="0"/>
              <a:t> file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&lt;html&gt;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&lt;body&gt;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Welcome 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&lt;?</a:t>
            </a:r>
            <a:r>
              <a:rPr lang="en-US" b="1" dirty="0" err="1">
                <a:solidFill>
                  <a:srgbClr val="000000"/>
                </a:solidFill>
                <a:latin typeface="Consolas" pitchFamily="49" charset="0"/>
              </a:rPr>
              <a:t>php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 echo </a:t>
            </a:r>
            <a:r>
              <a:rPr lang="en-US" dirty="0"/>
              <a:t> </a:t>
            </a:r>
            <a:r>
              <a:rPr lang="en-US" b="1" dirty="0"/>
              <a:t>$_GET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["name"]; ?&gt;&lt;</a:t>
            </a:r>
            <a:r>
              <a:rPr lang="en-US" dirty="0" err="1">
                <a:solidFill>
                  <a:srgbClr val="000000"/>
                </a:solidFill>
                <a:latin typeface="Consolas" pitchFamily="49" charset="0"/>
              </a:rPr>
              <a:t>br</a:t>
            </a: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Your email address is: 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&lt;?</a:t>
            </a:r>
            <a:r>
              <a:rPr lang="en-US" b="1" dirty="0" err="1">
                <a:solidFill>
                  <a:srgbClr val="000000"/>
                </a:solidFill>
                <a:latin typeface="Consolas" pitchFamily="49" charset="0"/>
              </a:rPr>
              <a:t>php</a:t>
            </a:r>
            <a:r>
              <a:rPr lang="en-US" b="1" dirty="0">
                <a:solidFill>
                  <a:srgbClr val="000000"/>
                </a:solidFill>
                <a:latin typeface="Consolas" pitchFamily="49" charset="0"/>
              </a:rPr>
              <a:t> echo $_GET["email"]; ?&gt;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&lt;/body&gt;</a:t>
            </a:r>
            <a:br>
              <a:rPr lang="en-US" dirty="0">
                <a:latin typeface="Consolas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itchFamily="49" charset="0"/>
              </a:rPr>
              <a:t>&lt;/html&gt;</a:t>
            </a:r>
            <a:endParaRPr lang="en-US" altLang="en-US" dirty="0">
              <a:latin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HTTP GET</a:t>
            </a:r>
          </a:p>
        </p:txBody>
      </p:sp>
    </p:spTree>
    <p:extLst>
      <p:ext uri="{BB962C8B-B14F-4D97-AF65-F5344CB8AC3E}">
        <p14:creationId xmlns:p14="http://schemas.microsoft.com/office/powerpoint/2010/main" val="268458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Form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Both GET and POST create an array (e.g. array( key1 =&gt; value1, key2 =&gt; value2, key3 =&gt; value3, ...)). This array holds key/value pairs, where keys are the names of the form controls and values are the input data from the user.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/>
              </a:rPr>
              <a:t>$_GET is an array of variables passed to the current script via the URL parameters.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/>
              </a:rPr>
              <a:t>Information sent from a form with the GET method is </a:t>
            </a:r>
            <a:r>
              <a:rPr lang="en-US" b="1" dirty="0">
                <a:solidFill>
                  <a:srgbClr val="000000"/>
                </a:solidFill>
                <a:latin typeface="Verdana"/>
              </a:rPr>
              <a:t>visible to everyone</a:t>
            </a:r>
            <a:r>
              <a:rPr lang="en-US" dirty="0">
                <a:solidFill>
                  <a:srgbClr val="000000"/>
                </a:solidFill>
                <a:latin typeface="Verdana"/>
              </a:rPr>
              <a:t> (all variable names and values are displayed in the URL).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/>
              </a:rPr>
              <a:t>$_POST is an array of variables passed to the current script via the HTTP POST method.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/>
              </a:rPr>
              <a:t>Information sent from a form with the POST method is invisible to others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altLang="en-US" dirty="0">
              <a:latin typeface="Consolas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HTTP GET </a:t>
            </a:r>
            <a:r>
              <a:rPr lang="en-US" dirty="0" err="1"/>
              <a:t>vs</a:t>
            </a:r>
            <a:r>
              <a:rPr lang="en-US" dirty="0"/>
              <a:t> HTTP POST</a:t>
            </a:r>
          </a:p>
        </p:txBody>
      </p:sp>
    </p:spTree>
    <p:extLst>
      <p:ext uri="{BB962C8B-B14F-4D97-AF65-F5344CB8AC3E}">
        <p14:creationId xmlns:p14="http://schemas.microsoft.com/office/powerpoint/2010/main" val="498407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Form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35452"/>
            <a:ext cx="7916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Proper validation of form data is important to protect your form from hackers and spammers!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Lets consider the example.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50" name="Picture 2" descr="C:\Users\teacher\Pictures\Screenshots\Screenshot (36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910" y="3448594"/>
            <a:ext cx="4846320" cy="316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481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037656"/>
              </p:ext>
            </p:extLst>
          </p:nvPr>
        </p:nvGraphicFramePr>
        <p:xfrm>
          <a:off x="1033462" y="2512823"/>
          <a:ext cx="7077075" cy="2148060"/>
        </p:xfrm>
        <a:graphic>
          <a:graphicData uri="http://schemas.openxmlformats.org/drawingml/2006/table">
            <a:tbl>
              <a:tblPr/>
              <a:tblGrid>
                <a:gridCol w="1773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30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</a:rPr>
                        <a:t>Field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dirty="0">
                          <a:effectLst/>
                        </a:rPr>
                        <a:t>Validation Rules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950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Name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Required. + Must only contain letters and whitespace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950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E-mail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Required. + Must contain a valid email address (with @ and .)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950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Website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Optional. If present, it must contain a valid URL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950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Comment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Optional. Multi-line input field (</a:t>
                      </a:r>
                      <a:r>
                        <a:rPr lang="en-US" sz="1500" dirty="0" err="1">
                          <a:effectLst/>
                        </a:rPr>
                        <a:t>textarea</a:t>
                      </a:r>
                      <a:r>
                        <a:rPr lang="en-US" sz="1500" dirty="0">
                          <a:effectLst/>
                        </a:rPr>
                        <a:t>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950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Gender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Required. Must select one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892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8C5A-8F3C-4D7E-9EB3-58435CF4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E9E17-87DD-46A4-9873-3CAC3048E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50013"/>
            <a:ext cx="8858250" cy="48290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empty()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function checks whether a variable is empty or not. This function returns false if the variable exists and is not empty, otherwise it returns true.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following values evaluates to empty: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"0"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""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array()</a:t>
            </a:r>
          </a:p>
        </p:txBody>
      </p:sp>
    </p:spTree>
    <p:extLst>
      <p:ext uri="{BB962C8B-B14F-4D97-AF65-F5344CB8AC3E}">
        <p14:creationId xmlns:p14="http://schemas.microsoft.com/office/powerpoint/2010/main" val="471466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E24C-0A61-4517-8C83-99A6619EE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6C197-43B4-4D82-A132-4FCE3ED91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39" y="1775792"/>
            <a:ext cx="8314911" cy="4350372"/>
          </a:xfrm>
        </p:spPr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 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 because $a is empty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($a))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"Variable 'a' is empty.&lt;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</a:p>
          <a:p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https://www.w3schools.com/php/func_var_empty.asp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315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E24C-0A61-4517-8C83-99A6619EE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6C197-43B4-4D82-A132-4FCE3ED91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39" y="1775792"/>
            <a:ext cx="8314911" cy="4350372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isset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()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function checks whether a variable is set, which means that it has to be declared and is not NULL.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This function returns true if the variable exists and is not NULL, otherwise it returns false.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7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026D-AE65-4C0D-B770-D1504E3E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PHP Functions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5A264-9FB7-4C5E-BAC1-FCBCB6E35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806" y="1934817"/>
            <a:ext cx="7076747" cy="3992563"/>
          </a:xfrm>
        </p:spPr>
        <p:txBody>
          <a:bodyPr>
            <a:normAutofit fontScale="85000" lnSpcReduction="20000"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$a 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 because $a is set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($a))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"Variable 'a' is set.&lt;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$b = null;</a:t>
            </a:r>
            <a:br>
              <a:rPr lang="en-US" dirty="0"/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 because $b is NULL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($b))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"Variable 'b' is set."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</a:p>
          <a:p>
            <a:r>
              <a:rPr lang="en-US" dirty="0">
                <a:hlinkClick r:id="rId2"/>
              </a:rPr>
              <a:t>https://www.w3schools.com/php/func_var_isset.asp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22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B718-65BB-4962-91D3-C5EDE64F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B5FFD-7B52-4C33-AFFD-922E67CEA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25" y="2235055"/>
            <a:ext cx="8468225" cy="3992563"/>
          </a:xfrm>
        </p:spPr>
        <p:txBody>
          <a:bodyPr>
            <a:noAutofit/>
          </a:bodyPr>
          <a:lstStyle/>
          <a:p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is_null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Checks 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 variable is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is_null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$variable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 ... }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is_bool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Checks 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 variable is of type </a:t>
            </a:r>
            <a:r>
              <a:rPr lang="en-US" sz="14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is_bool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$variable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 ... }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is_int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/ 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is_integer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/ 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is_long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Checks 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 variable is of type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is_int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$variable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 ... }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is_float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/ 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is_double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/ 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is_real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Checks </a:t>
            </a: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 variable is of type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is_float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$variable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 ... }</a:t>
            </a:r>
            <a:endParaRPr lang="en-US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53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B718-65BB-4962-91D3-C5EDE64F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20191-2C53-F7AA-7BBA-D31C6D793176}"/>
              </a:ext>
            </a:extLst>
          </p:cNvPr>
          <p:cNvSpPr txBox="1"/>
          <p:nvPr/>
        </p:nvSpPr>
        <p:spPr>
          <a:xfrm>
            <a:off x="284162" y="1870868"/>
            <a:ext cx="85740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is_numeric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Checks </a:t>
            </a:r>
            <a:r>
              <a:rPr lang="en-US" sz="1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 variable is a number or a numeric </a:t>
            </a:r>
            <a:r>
              <a:rPr lang="en-US" sz="1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US" sz="1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is_numeric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$variable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 ... }</a:t>
            </a:r>
            <a:endParaRPr lang="en-US" sz="1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is_string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Checks </a:t>
            </a:r>
            <a:r>
              <a:rPr lang="en-US" sz="1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 variable is of type </a:t>
            </a:r>
            <a:r>
              <a:rPr lang="en-US" sz="1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US" sz="1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is_string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$variable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 ... }</a:t>
            </a:r>
            <a:endParaRPr lang="en-US" sz="1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is_array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Checks </a:t>
            </a:r>
            <a:r>
              <a:rPr lang="en-US" sz="1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 variable is of type </a:t>
            </a:r>
            <a:r>
              <a:rPr lang="en-US" sz="1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US" sz="1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is_array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$variable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 ... }</a:t>
            </a:r>
            <a:endParaRPr lang="en-US" sz="1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648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B718-65BB-4962-91D3-C5EDE64F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05B44-8E59-9EDB-25BF-F7B594103272}"/>
              </a:ext>
            </a:extLst>
          </p:cNvPr>
          <p:cNvSpPr txBox="1"/>
          <p:nvPr/>
        </p:nvSpPr>
        <p:spPr>
          <a:xfrm>
            <a:off x="284163" y="171050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String Validation 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4E2237-0062-4097-5F84-AE1446C774C7}"/>
              </a:ext>
            </a:extLst>
          </p:cNvPr>
          <p:cNvSpPr txBox="1"/>
          <p:nvPr/>
        </p:nvSpPr>
        <p:spPr>
          <a:xfrm>
            <a:off x="339214" y="2192114"/>
            <a:ext cx="77281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strlen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Gets the length of a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strlen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$string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&gt;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{ ... }</a:t>
            </a:r>
          </a:p>
          <a:p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preg_match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Performs a regular expression </a:t>
            </a:r>
            <a:r>
              <a:rPr lang="en-US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match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 (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preg_match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11F3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'/pattern/'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$string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 ... }</a:t>
            </a:r>
          </a:p>
          <a:p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ctype_alnum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Checks </a:t>
            </a:r>
            <a:r>
              <a:rPr lang="en-US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alphanumeric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character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(s).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ctype_alnum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$string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 ... }</a:t>
            </a:r>
            <a:endParaRPr lang="en-US" dirty="0">
              <a:solidFill>
                <a:srgbClr val="3B3B3B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ctype_alpha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Checks </a:t>
            </a:r>
            <a:r>
              <a:rPr lang="en-US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alphabetic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character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(s).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ctype_alpha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$string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 { ... 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filter_var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(): Filters a variable with a specified filter.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Validate e-mail</a:t>
            </a:r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filter_var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$email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FILTER_VALIDATE_</a:t>
            </a:r>
            <a:r>
              <a:rPr lang="en-US" b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EMAIL))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682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B718-65BB-4962-91D3-C5EDE64F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B5FFD-7B52-4C33-AFFD-922E67CEA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25" y="1624726"/>
            <a:ext cx="8468225" cy="3992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 err="1"/>
              <a:t>preg_match</a:t>
            </a:r>
            <a:r>
              <a:rPr lang="en-US" b="1" dirty="0"/>
              <a:t>() </a:t>
            </a:r>
            <a:r>
              <a:rPr lang="en-US" dirty="0"/>
              <a:t>function returns whether a match was found in a string.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&lt;?php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$str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"Visit W3Schools"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$pattern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"/w3schools/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preg_match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($pattern, $str);</a:t>
            </a:r>
            <a:br>
              <a:rPr lang="en-US" dirty="0"/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https://www.w3schools.com/php/func_regex_preg_match.asp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212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496388" y="1415086"/>
            <a:ext cx="81773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W3Schools Online Web Tutorials; URL: </a:t>
            </a:r>
            <a:r>
              <a:rPr lang="en-US" sz="2000" b="1" u="sng" dirty="0">
                <a:hlinkClick r:id="rId2"/>
              </a:rPr>
              <a:t>http://www.w3schools.com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Documentation; URL: </a:t>
            </a:r>
            <a:r>
              <a:rPr lang="en-US" sz="2000" b="1" u="sng" dirty="0">
                <a:hlinkClick r:id="rId3"/>
              </a:rPr>
              <a:t>http://www.php.net/docs.php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/>
              <a:t>Sams</a:t>
            </a:r>
            <a:r>
              <a:rPr lang="en-US" sz="2000" b="1" dirty="0"/>
              <a:t> Teach Yourself Ajax JavaScript and PHP All in One; Phil Ballard and Michael </a:t>
            </a:r>
            <a:r>
              <a:rPr lang="en-US" sz="2000" b="1" dirty="0" err="1"/>
              <a:t>Moncur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2010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Phrasebook; Christian </a:t>
            </a:r>
            <a:r>
              <a:rPr lang="en-US" sz="2000" b="1" dirty="0" err="1"/>
              <a:t>Wenz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2007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and MySQL Web Development, 4/E; Luke Welling and Laura Thomson; Addison-Wesley Professional;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for Programmers Paul J. </a:t>
            </a:r>
            <a:r>
              <a:rPr lang="en-US" sz="2000" b="1" dirty="0" err="1"/>
              <a:t>Deitel</a:t>
            </a:r>
            <a:r>
              <a:rPr lang="en-US" sz="2000" b="1" dirty="0"/>
              <a:t> and Harvey M. </a:t>
            </a:r>
            <a:r>
              <a:rPr lang="en-US" sz="2000" b="1" dirty="0" err="1"/>
              <a:t>Deitel</a:t>
            </a:r>
            <a:r>
              <a:rPr lang="en-US" sz="2000" b="1" dirty="0"/>
              <a:t>; Prentice Hall;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Beginning PHP5, Apache, and MySQL Web Development; Elizabeth </a:t>
            </a:r>
            <a:r>
              <a:rPr lang="en-US" sz="2000" b="1" dirty="0" err="1"/>
              <a:t>Naramore</a:t>
            </a:r>
            <a:r>
              <a:rPr lang="en-US" sz="2000" b="1" dirty="0"/>
              <a:t>, Jason </a:t>
            </a:r>
            <a:r>
              <a:rPr lang="en-US" sz="2000" b="1" dirty="0" err="1"/>
              <a:t>Gerner</a:t>
            </a:r>
            <a:r>
              <a:rPr lang="en-US" sz="2000" b="1" dirty="0"/>
              <a:t>, </a:t>
            </a:r>
            <a:r>
              <a:rPr lang="en-US" sz="2000" b="1" dirty="0" err="1"/>
              <a:t>Yann</a:t>
            </a:r>
            <a:r>
              <a:rPr lang="en-US" sz="2000" b="1" dirty="0"/>
              <a:t> Le </a:t>
            </a:r>
            <a:r>
              <a:rPr lang="en-US" sz="2000" b="1" dirty="0" err="1"/>
              <a:t>Scouarnec</a:t>
            </a:r>
            <a:r>
              <a:rPr lang="en-US" sz="2000" b="1" dirty="0"/>
              <a:t>, Jeremy </a:t>
            </a:r>
            <a:r>
              <a:rPr lang="en-US" sz="2000" b="1" dirty="0" err="1"/>
              <a:t>Stolz</a:t>
            </a:r>
            <a:r>
              <a:rPr lang="en-US" sz="2000" b="1" dirty="0"/>
              <a:t> and Michael K. Glass; Wiley Publishing; 2005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XML in a Nutshell, 3/E; </a:t>
            </a:r>
            <a:r>
              <a:rPr lang="en-US" sz="2000" b="1" dirty="0" err="1"/>
              <a:t>Elliotte</a:t>
            </a:r>
            <a:r>
              <a:rPr lang="en-US" sz="2000" b="1" dirty="0"/>
              <a:t> Rusty Harold and W. Scott Means; O'Reilly Media; 2004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7720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2"/>
              </a:rPr>
              <a:t>https://www.w3schools.com/php/php_forms.asp</a:t>
            </a:r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8D3B5C-8135-49D7-94E4-BF8AFE3937AA}"/>
</file>

<file path=customXml/itemProps2.xml><?xml version="1.0" encoding="utf-8"?>
<ds:datastoreItem xmlns:ds="http://schemas.openxmlformats.org/officeDocument/2006/customXml" ds:itemID="{E11667AA-3491-4458-B29B-36125D900CD1}"/>
</file>

<file path=customXml/itemProps3.xml><?xml version="1.0" encoding="utf-8"?>
<ds:datastoreItem xmlns:ds="http://schemas.openxmlformats.org/officeDocument/2006/customXml" ds:itemID="{671AD5A4-C6F5-4D0A-81C4-E8C318559A15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509</TotalTime>
  <Words>1452</Words>
  <Application>Microsoft Office PowerPoint</Application>
  <PresentationFormat>On-screen Show (4:3)</PresentationFormat>
  <Paragraphs>143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Consolas</vt:lpstr>
      <vt:lpstr>Corbel</vt:lpstr>
      <vt:lpstr>Times New Roman</vt:lpstr>
      <vt:lpstr>Verdana</vt:lpstr>
      <vt:lpstr>Wingdings</vt:lpstr>
      <vt:lpstr>Spectrum</vt:lpstr>
      <vt:lpstr>PHP Form Validation</vt:lpstr>
      <vt:lpstr>Lecture Outline</vt:lpstr>
      <vt:lpstr>Learning Objectives</vt:lpstr>
      <vt:lpstr>PHP Form Handling</vt:lpstr>
      <vt:lpstr>PHP Form Handling</vt:lpstr>
      <vt:lpstr>PHP Form Handling</vt:lpstr>
      <vt:lpstr>PHP Form Handling</vt:lpstr>
      <vt:lpstr>PHP Form Validation</vt:lpstr>
      <vt:lpstr>PHP Form Validation</vt:lpstr>
      <vt:lpstr>PHP Functions</vt:lpstr>
      <vt:lpstr>PHP Functions</vt:lpstr>
      <vt:lpstr>PHP Functions</vt:lpstr>
      <vt:lpstr>PHP Functions </vt:lpstr>
      <vt:lpstr>PHP Functions</vt:lpstr>
      <vt:lpstr>PHP Functions</vt:lpstr>
      <vt:lpstr>PHP Functions</vt:lpstr>
      <vt:lpstr>PHP Functions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86</cp:revision>
  <dcterms:created xsi:type="dcterms:W3CDTF">2018-12-10T17:20:29Z</dcterms:created>
  <dcterms:modified xsi:type="dcterms:W3CDTF">2024-10-30T09:03:40Z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