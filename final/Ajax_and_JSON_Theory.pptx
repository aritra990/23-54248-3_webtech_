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330" r:id="rId4"/>
    <p:sldId id="334" r:id="rId5"/>
    <p:sldId id="332" r:id="rId6"/>
    <p:sldId id="331" r:id="rId7"/>
    <p:sldId id="353" r:id="rId8"/>
    <p:sldId id="354" r:id="rId9"/>
    <p:sldId id="333" r:id="rId10"/>
    <p:sldId id="355" r:id="rId11"/>
    <p:sldId id="356" r:id="rId12"/>
    <p:sldId id="361" r:id="rId13"/>
    <p:sldId id="360" r:id="rId14"/>
    <p:sldId id="357" r:id="rId15"/>
    <p:sldId id="358" r:id="rId16"/>
    <p:sldId id="362" r:id="rId17"/>
    <p:sldId id="266" r:id="rId18"/>
    <p:sldId id="299" r:id="rId19"/>
    <p:sldId id="296" r:id="rId20"/>
    <p:sldId id="336" r:id="rId21"/>
    <p:sldId id="339" r:id="rId22"/>
    <p:sldId id="364" r:id="rId23"/>
    <p:sldId id="365" r:id="rId24"/>
    <p:sldId id="366" r:id="rId25"/>
    <p:sldId id="368" r:id="rId26"/>
    <p:sldId id="370" r:id="rId27"/>
    <p:sldId id="371" r:id="rId28"/>
    <p:sldId id="265" r:id="rId29"/>
    <p:sldId id="26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35280-4EA3-35E6-26F3-68CBE8D719E0}" v="1" dt="2024-04-27T20:12:06.069"/>
    <p1510:client id="{DF36E4BE-5828-7B26-DC1F-02713A848FC0}" v="3" dt="2024-04-27T11:38:54.2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YAN AL SULTAN" userId="S::19-41639-3@student.aiub.edu::bedf90e7-97a8-4c6e-ac67-913b7163a5b6" providerId="AD" clId="Web-{BDE76C23-92A7-2DE0-35DB-E470F702537D}"/>
    <pc:docChg chg="modSld">
      <pc:chgData name="MD. RAIYAN AL SULTAN" userId="S::19-41639-3@student.aiub.edu::bedf90e7-97a8-4c6e-ac67-913b7163a5b6" providerId="AD" clId="Web-{BDE76C23-92A7-2DE0-35DB-E470F702537D}" dt="2024-04-16T03:30:15.172" v="0" actId="20577"/>
      <pc:docMkLst>
        <pc:docMk/>
      </pc:docMkLst>
      <pc:sldChg chg="modSp">
        <pc:chgData name="MD. RAIYAN AL SULTAN" userId="S::19-41639-3@student.aiub.edu::bedf90e7-97a8-4c6e-ac67-913b7163a5b6" providerId="AD" clId="Web-{BDE76C23-92A7-2DE0-35DB-E470F702537D}" dt="2024-04-16T03:30:15.172" v="0" actId="20577"/>
        <pc:sldMkLst>
          <pc:docMk/>
          <pc:sldMk cId="1393705652" sldId="334"/>
        </pc:sldMkLst>
        <pc:spChg chg="mod">
          <ac:chgData name="MD. RAIYAN AL SULTAN" userId="S::19-41639-3@student.aiub.edu::bedf90e7-97a8-4c6e-ac67-913b7163a5b6" providerId="AD" clId="Web-{BDE76C23-92A7-2DE0-35DB-E470F702537D}" dt="2024-04-16T03:30:15.172" v="0" actId="20577"/>
          <ac:spMkLst>
            <pc:docMk/>
            <pc:sldMk cId="1393705652" sldId="334"/>
            <ac:spMk id="3" creationId="{56CD2EA8-B54C-CE4F-A943-BFB367453E0E}"/>
          </ac:spMkLst>
        </pc:spChg>
      </pc:sldChg>
    </pc:docChg>
  </pc:docChgLst>
  <pc:docChgLst>
    <pc:chgData name="SHEIKH ARAFAT" userId="S::21-45778-3@student.aiub.edu::b1740b7a-8642-4d74-9e75-60aa515aa60d" providerId="AD" clId="Web-{65D35280-4EA3-35E6-26F3-68CBE8D719E0}"/>
    <pc:docChg chg="sldOrd">
      <pc:chgData name="SHEIKH ARAFAT" userId="S::21-45778-3@student.aiub.edu::b1740b7a-8642-4d74-9e75-60aa515aa60d" providerId="AD" clId="Web-{65D35280-4EA3-35E6-26F3-68CBE8D719E0}" dt="2024-04-27T20:12:06.069" v="0"/>
      <pc:docMkLst>
        <pc:docMk/>
      </pc:docMkLst>
      <pc:sldChg chg="ord">
        <pc:chgData name="SHEIKH ARAFAT" userId="S::21-45778-3@student.aiub.edu::b1740b7a-8642-4d74-9e75-60aa515aa60d" providerId="AD" clId="Web-{65D35280-4EA3-35E6-26F3-68CBE8D719E0}" dt="2024-04-27T20:12:06.069" v="0"/>
        <pc:sldMkLst>
          <pc:docMk/>
          <pc:sldMk cId="3749249888" sldId="331"/>
        </pc:sldMkLst>
      </pc:sldChg>
    </pc:docChg>
  </pc:docChgLst>
  <pc:docChgLst>
    <pc:chgData name="TATINEE RAJBANTEE" userId="S::21-44618-1@student.aiub.edu::48e5db53-b1ad-427e-bbf6-c9cbdea5b1ef" providerId="AD" clId="Web-{DF36E4BE-5828-7B26-DC1F-02713A848FC0}"/>
    <pc:docChg chg="modSld">
      <pc:chgData name="TATINEE RAJBANTEE" userId="S::21-44618-1@student.aiub.edu::48e5db53-b1ad-427e-bbf6-c9cbdea5b1ef" providerId="AD" clId="Web-{DF36E4BE-5828-7B26-DC1F-02713A848FC0}" dt="2024-04-27T11:38:53.994" v="1" actId="20577"/>
      <pc:docMkLst>
        <pc:docMk/>
      </pc:docMkLst>
      <pc:sldChg chg="modSp">
        <pc:chgData name="TATINEE RAJBANTEE" userId="S::21-44618-1@student.aiub.edu::48e5db53-b1ad-427e-bbf6-c9cbdea5b1ef" providerId="AD" clId="Web-{DF36E4BE-5828-7B26-DC1F-02713A848FC0}" dt="2024-04-27T11:38:53.994" v="1" actId="20577"/>
        <pc:sldMkLst>
          <pc:docMk/>
          <pc:sldMk cId="700707328" sldId="256"/>
        </pc:sldMkLst>
        <pc:spChg chg="mod">
          <ac:chgData name="TATINEE RAJBANTEE" userId="S::21-44618-1@student.aiub.edu::48e5db53-b1ad-427e-bbf6-c9cbdea5b1ef" providerId="AD" clId="Web-{DF36E4BE-5828-7B26-DC1F-02713A848FC0}" dt="2024-04-27T11:38:53.994" v="1" actId="20577"/>
          <ac:spMkLst>
            <pc:docMk/>
            <pc:sldMk cId="700707328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5A15E-1A99-40A5-A89D-4D03C7726ECB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B4E94-A4BF-4054-BFBC-37471E04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ref_httpmessages.asp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hyperlink" Target="http://www.mysql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javatpoint.com/" TargetMode="External"/><Relationship Id="rId4" Type="http://schemas.openxmlformats.org/officeDocument/2006/relationships/hyperlink" Target="http://www.php.net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635200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 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AJAX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AJAX Request and Response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Access JSON using AJAX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jQuery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jQuery Selectors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jQuery Events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AJAX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What is AJAX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346344"/>
            <a:ext cx="838644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/>
              <a:t>AJAX =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2400" dirty="0"/>
              <a:t>synchronous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J</a:t>
            </a:r>
            <a:r>
              <a:rPr lang="en-US" sz="2400" dirty="0"/>
              <a:t>avaScript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2400" dirty="0"/>
              <a:t>nd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en-US" sz="2400" dirty="0"/>
              <a:t>ML.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AJAX is not a programming language.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AJAX is a technique for accessing web servers from a web page.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 browser built-in XMLHttpRequest object to request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</a:t>
            </a:r>
            <a:r>
              <a:rPr lang="en-US" sz="2400" dirty="0"/>
              <a:t> from a web server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Read data from a web server - after the page has loaded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Update a web page without reloading the page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Send data to a web server - in the background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JavaScript and HTML DOM to display or use the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976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257327"/>
            <a:ext cx="7879283" cy="31700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000" dirty="0"/>
          </a:p>
          <a:p>
            <a:r>
              <a:rPr lang="en-US" dirty="0"/>
              <a:t>function loadDoc() {</a:t>
            </a:r>
            <a:br>
              <a:rPr lang="en-US" sz="2000" dirty="0"/>
            </a:br>
            <a:r>
              <a:rPr lang="en-US" dirty="0"/>
              <a:t>  var xhttp = new XMLHttpRequest();</a:t>
            </a:r>
            <a:br>
              <a:rPr lang="en-US" sz="2000" dirty="0"/>
            </a:br>
            <a:r>
              <a:rPr lang="en-US" dirty="0"/>
              <a:t>  </a:t>
            </a:r>
            <a:r>
              <a:rPr lang="en-US" dirty="0" err="1"/>
              <a:t>xhttp.onreadystatechange</a:t>
            </a:r>
            <a:r>
              <a:rPr lang="en-US" dirty="0"/>
              <a:t> = function() {</a:t>
            </a:r>
            <a:br>
              <a:rPr lang="en-US" sz="2000" dirty="0"/>
            </a:br>
            <a:r>
              <a:rPr lang="en-US" dirty="0"/>
              <a:t>    if (this.readyState == 4 &amp;&amp; </a:t>
            </a:r>
            <a:r>
              <a:rPr lang="en-US" dirty="0" err="1"/>
              <a:t>this.status</a:t>
            </a:r>
            <a:r>
              <a:rPr lang="en-US" dirty="0"/>
              <a:t> == 200) {</a:t>
            </a:r>
            <a:br>
              <a:rPr lang="en-US" sz="2000" dirty="0"/>
            </a:br>
            <a:r>
              <a:rPr lang="en-US" dirty="0"/>
              <a:t>     </a:t>
            </a:r>
            <a:r>
              <a:rPr lang="en-US" dirty="0" err="1"/>
              <a:t>document.getElementById</a:t>
            </a:r>
            <a:r>
              <a:rPr lang="en-US" dirty="0"/>
              <a:t>("demo").innerHTML = </a:t>
            </a:r>
            <a:r>
              <a:rPr lang="en-US" dirty="0" err="1"/>
              <a:t>this.responseText</a:t>
            </a:r>
            <a:r>
              <a:rPr lang="en-US" dirty="0"/>
              <a:t>;</a:t>
            </a:r>
            <a:br>
              <a:rPr lang="en-US" sz="2000" dirty="0"/>
            </a:br>
            <a:r>
              <a:rPr lang="en-US" dirty="0"/>
              <a:t>    }</a:t>
            </a:r>
            <a:br>
              <a:rPr lang="en-US" sz="2000" dirty="0"/>
            </a:br>
            <a:r>
              <a:rPr lang="en-US" dirty="0"/>
              <a:t>  };</a:t>
            </a:r>
            <a:br>
              <a:rPr lang="en-US" sz="2000" dirty="0"/>
            </a:br>
            <a:r>
              <a:rPr lang="en-US" dirty="0"/>
              <a:t>  xhttp.open("GET", "ajax_info.txt", true);</a:t>
            </a:r>
            <a:br>
              <a:rPr lang="en-US" sz="2000" dirty="0"/>
            </a:br>
            <a:r>
              <a:rPr lang="en-US" dirty="0"/>
              <a:t>  </a:t>
            </a:r>
            <a:r>
              <a:rPr lang="en-US" dirty="0" err="1"/>
              <a:t>xhttp.send</a:t>
            </a:r>
            <a:r>
              <a:rPr lang="en-US" dirty="0"/>
              <a:t>();</a:t>
            </a:r>
            <a:br>
              <a:rPr lang="en-US" sz="2000" dirty="0"/>
            </a:br>
            <a:r>
              <a:rPr lang="en-US" dirty="0"/>
              <a:t>}</a:t>
            </a:r>
            <a:endParaRPr lang="en-US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370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XMLHttpRequest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088514"/>
            <a:ext cx="78792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keystone of AJAX is the XMLHttpRequest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XMLHttpRequest object can be used to exchange data with a web server behind the scenes.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possible to update parts of a web page, without reloading the whole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Syntax for creating an XMLHttpRequest object:</a:t>
            </a:r>
          </a:p>
          <a:p>
            <a:r>
              <a:rPr lang="en-US" sz="2400" i="1" dirty="0"/>
              <a:t>[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Variable</a:t>
            </a:r>
            <a:r>
              <a:rPr lang="en-US" sz="2400" i="1" dirty="0"/>
              <a:t>]</a:t>
            </a:r>
            <a:r>
              <a:rPr lang="en-US" sz="2400" dirty="0"/>
              <a:t> = new XMLHttpRequest();</a:t>
            </a:r>
          </a:p>
          <a:p>
            <a:r>
              <a:rPr lang="en-US" sz="2400" dirty="0"/>
              <a:t>var xhttp = new XMLHttpRequest();</a:t>
            </a:r>
          </a:p>
        </p:txBody>
      </p:sp>
    </p:spTree>
    <p:extLst>
      <p:ext uri="{BB962C8B-B14F-4D97-AF65-F5344CB8AC3E}">
        <p14:creationId xmlns:p14="http://schemas.microsoft.com/office/powerpoint/2010/main" val="540374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AJAX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618291" y="4535099"/>
            <a:ext cx="78792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An event occurs in a web page when the page is loaded, a button is clicked</a:t>
            </a:r>
          </a:p>
          <a:p>
            <a:r>
              <a:rPr lang="en-US" dirty="0"/>
              <a:t>2. An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XMLHttpRequest</a:t>
            </a:r>
            <a:r>
              <a:rPr lang="en-US" dirty="0"/>
              <a:t> object is created by JavaScript</a:t>
            </a:r>
          </a:p>
          <a:p>
            <a:r>
              <a:rPr lang="en-US" dirty="0"/>
              <a:t>3.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XMLHttpRequest</a:t>
            </a:r>
            <a:r>
              <a:rPr lang="en-US" dirty="0"/>
              <a:t> object sends a request to a web server</a:t>
            </a:r>
          </a:p>
          <a:p>
            <a:r>
              <a:rPr lang="en-US" dirty="0"/>
              <a:t>4. The server processes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request</a:t>
            </a:r>
          </a:p>
          <a:p>
            <a:r>
              <a:rPr lang="en-US" dirty="0"/>
              <a:t>5. The server sends a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response</a:t>
            </a:r>
            <a:r>
              <a:rPr lang="en-US" dirty="0"/>
              <a:t> back to the web page</a:t>
            </a:r>
          </a:p>
          <a:p>
            <a:r>
              <a:rPr lang="en-US" dirty="0"/>
              <a:t>6. The response is read by JavaScript</a:t>
            </a:r>
          </a:p>
          <a:p>
            <a:r>
              <a:rPr lang="en-US" dirty="0"/>
              <a:t>7. Proper action like page update is performed by JavaScript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1D9CB6D-DBBC-4F97-9DDD-D9043648A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91" y="1088514"/>
            <a:ext cx="6240852" cy="330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24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XMLHttpRequest Object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C1E39B-5DEF-4FC7-A49A-08BE6FF18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43158"/>
              </p:ext>
            </p:extLst>
          </p:nvPr>
        </p:nvGraphicFramePr>
        <p:xfrm>
          <a:off x="351691" y="1278396"/>
          <a:ext cx="8184863" cy="5570838"/>
        </p:xfrm>
        <a:graphic>
          <a:graphicData uri="http://schemas.openxmlformats.org/drawingml/2006/table">
            <a:tbl>
              <a:tblPr/>
              <a:tblGrid>
                <a:gridCol w="2865639">
                  <a:extLst>
                    <a:ext uri="{9D8B030D-6E8A-4147-A177-3AD203B41FA5}">
                      <a16:colId xmlns:a16="http://schemas.microsoft.com/office/drawing/2014/main" val="4030347855"/>
                    </a:ext>
                  </a:extLst>
                </a:gridCol>
                <a:gridCol w="5319224">
                  <a:extLst>
                    <a:ext uri="{9D8B030D-6E8A-4147-A177-3AD203B41FA5}">
                      <a16:colId xmlns:a16="http://schemas.microsoft.com/office/drawing/2014/main" val="2420717632"/>
                    </a:ext>
                  </a:extLst>
                </a:gridCol>
              </a:tblGrid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Method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512731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new XMLHttpRequest()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Creates a new XMLHttpRequest object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052796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abort()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Cancels the current request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6319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effectLst/>
                        </a:rPr>
                        <a:t>getAllResponseHeaders</a:t>
                      </a:r>
                      <a:r>
                        <a:rPr lang="en-US" sz="1800" dirty="0">
                          <a:effectLst/>
                        </a:rPr>
                        <a:t>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header information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35145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getResponseHeader()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specific header information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878863"/>
                  </a:ext>
                </a:extLst>
              </a:tr>
              <a:tr h="13711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open(</a:t>
                      </a:r>
                      <a:r>
                        <a:rPr lang="en-US" sz="1800" i="1" dirty="0">
                          <a:effectLst/>
                        </a:rPr>
                        <a:t>method, </a:t>
                      </a:r>
                      <a:r>
                        <a:rPr lang="en-US" sz="1800" i="1" dirty="0" err="1">
                          <a:effectLst/>
                        </a:rPr>
                        <a:t>url</a:t>
                      </a:r>
                      <a:r>
                        <a:rPr lang="en-US" sz="1800" i="1" dirty="0">
                          <a:effectLst/>
                        </a:rPr>
                        <a:t>, async, user, </a:t>
                      </a:r>
                      <a:r>
                        <a:rPr lang="en-US" sz="1800" i="1" dirty="0" err="1">
                          <a:effectLst/>
                        </a:rPr>
                        <a:t>psw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Specifies the request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method</a:t>
                      </a:r>
                      <a:r>
                        <a:rPr lang="en-US" sz="1800" dirty="0">
                          <a:effectLst/>
                        </a:rPr>
                        <a:t>: the request type GET or POST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url</a:t>
                      </a:r>
                      <a:r>
                        <a:rPr lang="en-US" sz="1800" dirty="0">
                          <a:effectLst/>
                        </a:rPr>
                        <a:t>: the file location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async</a:t>
                      </a:r>
                      <a:r>
                        <a:rPr lang="en-US" sz="1800" dirty="0">
                          <a:effectLst/>
                        </a:rPr>
                        <a:t>: true (asynchronous) or false (synchronous)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user</a:t>
                      </a:r>
                      <a:r>
                        <a:rPr lang="en-US" sz="1800" dirty="0">
                          <a:effectLst/>
                        </a:rPr>
                        <a:t>: optional user name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 err="1">
                          <a:effectLst/>
                        </a:rPr>
                        <a:t>psw</a:t>
                      </a:r>
                      <a:r>
                        <a:rPr lang="en-US" sz="1800" dirty="0">
                          <a:effectLst/>
                        </a:rPr>
                        <a:t>: optional password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81140"/>
                  </a:ext>
                </a:extLst>
              </a:tr>
              <a:tr h="4637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send()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Sends the request to the server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Used for GET requests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578502"/>
                  </a:ext>
                </a:extLst>
              </a:tr>
              <a:tr h="4637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send(</a:t>
                      </a:r>
                      <a:r>
                        <a:rPr lang="en-US" sz="1800" i="1" dirty="0">
                          <a:effectLst/>
                        </a:rPr>
                        <a:t>string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Sends the request to the server.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Used for POST requests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89838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setRequestHeader()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Adds a label/value pair to the header to be sent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78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12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XMLHttpRequest Object Properties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9E75B9-7DAC-4025-9BA8-C088BF247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499742"/>
              </p:ext>
            </p:extLst>
          </p:nvPr>
        </p:nvGraphicFramePr>
        <p:xfrm>
          <a:off x="531140" y="1342691"/>
          <a:ext cx="7951677" cy="5406742"/>
        </p:xfrm>
        <a:graphic>
          <a:graphicData uri="http://schemas.openxmlformats.org/drawingml/2006/table">
            <a:tbl>
              <a:tblPr/>
              <a:tblGrid>
                <a:gridCol w="2783997">
                  <a:extLst>
                    <a:ext uri="{9D8B030D-6E8A-4147-A177-3AD203B41FA5}">
                      <a16:colId xmlns:a16="http://schemas.microsoft.com/office/drawing/2014/main" val="189680857"/>
                    </a:ext>
                  </a:extLst>
                </a:gridCol>
                <a:gridCol w="5167680">
                  <a:extLst>
                    <a:ext uri="{9D8B030D-6E8A-4147-A177-3AD203B41FA5}">
                      <a16:colId xmlns:a16="http://schemas.microsoft.com/office/drawing/2014/main" val="918792347"/>
                    </a:ext>
                  </a:extLst>
                </a:gridCol>
              </a:tblGrid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Property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137422"/>
                  </a:ext>
                </a:extLst>
              </a:tr>
              <a:tr h="61846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onreadystatechange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Defines a function to be called when the readyState property changes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77821"/>
                  </a:ext>
                </a:extLst>
              </a:tr>
              <a:tr h="159397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readyState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Holds the status of the XMLHttpRequest.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0: request not initialized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1: server connection established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2: request received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3: processing request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4: request finished and response is ready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847018"/>
                  </a:ext>
                </a:extLst>
              </a:tr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effectLst/>
                        </a:rPr>
                        <a:t>responseText</a:t>
                      </a:r>
                      <a:endParaRPr lang="en-US" sz="1800" dirty="0">
                        <a:effectLst/>
                      </a:endParaRP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Returns the response data as a string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47649"/>
                  </a:ext>
                </a:extLst>
              </a:tr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effectLst/>
                        </a:rPr>
                        <a:t>responseXML</a:t>
                      </a:r>
                      <a:endParaRPr lang="en-US" sz="1800" dirty="0">
                        <a:effectLst/>
                      </a:endParaRP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response data as XML data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45128"/>
                  </a:ext>
                </a:extLst>
              </a:tr>
              <a:tr h="135009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status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status-number of a request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200: "OK"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403: "Forbidden"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404: "Not Found"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For a complete list go to the </a:t>
                      </a:r>
                      <a:r>
                        <a:rPr lang="en-US" sz="1800" dirty="0">
                          <a:effectLst/>
                          <a:hlinkClick r:id="rId2"/>
                        </a:rPr>
                        <a:t>Http Messages Reference</a:t>
                      </a:r>
                      <a:endParaRPr lang="en-US" sz="1800" dirty="0">
                        <a:effectLst/>
                      </a:endParaRP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0500"/>
                  </a:ext>
                </a:extLst>
              </a:tr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statusText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status-text (e.g. "OK" or "Not Found")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155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82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AJAX Request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send a request to a server,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open</a:t>
            </a:r>
            <a:r>
              <a:rPr lang="en-US" sz="2000" dirty="0"/>
              <a:t>() and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send</a:t>
            </a:r>
            <a:r>
              <a:rPr lang="en-US" sz="2000" dirty="0"/>
              <a:t>() methods of the XMLHttpRequest object</a:t>
            </a:r>
          </a:p>
          <a:p>
            <a:endParaRPr lang="en-US" sz="2000" dirty="0"/>
          </a:p>
          <a:p>
            <a:pPr lvl="1"/>
            <a:r>
              <a:rPr lang="en-US" sz="2000" dirty="0"/>
              <a:t>xhttp.open("GET", "ajax_info.txt", true);</a:t>
            </a:r>
          </a:p>
          <a:p>
            <a:pPr lvl="1"/>
            <a:r>
              <a:rPr lang="en-US" sz="2000" dirty="0" err="1"/>
              <a:t>xhttp.send</a:t>
            </a:r>
            <a:r>
              <a:rPr lang="en-US" sz="2000" dirty="0"/>
              <a:t>();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C0EE9D-8B96-4122-949B-4F9CD9691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555910"/>
              </p:ext>
            </p:extLst>
          </p:nvPr>
        </p:nvGraphicFramePr>
        <p:xfrm>
          <a:off x="1033463" y="2911817"/>
          <a:ext cx="7077074" cy="3565640"/>
        </p:xfrm>
        <a:graphic>
          <a:graphicData uri="http://schemas.openxmlformats.org/drawingml/2006/table">
            <a:tbl>
              <a:tblPr/>
              <a:tblGrid>
                <a:gridCol w="2119078">
                  <a:extLst>
                    <a:ext uri="{9D8B030D-6E8A-4147-A177-3AD203B41FA5}">
                      <a16:colId xmlns:a16="http://schemas.microsoft.com/office/drawing/2014/main" val="246232047"/>
                    </a:ext>
                  </a:extLst>
                </a:gridCol>
                <a:gridCol w="4957996">
                  <a:extLst>
                    <a:ext uri="{9D8B030D-6E8A-4147-A177-3AD203B41FA5}">
                      <a16:colId xmlns:a16="http://schemas.microsoft.com/office/drawing/2014/main" val="911511418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936635"/>
                  </a:ext>
                </a:extLst>
              </a:tr>
              <a:tr h="129409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open(</a:t>
                      </a:r>
                      <a:r>
                        <a:rPr lang="en-US" sz="2000" i="1" dirty="0">
                          <a:effectLst/>
                        </a:rPr>
                        <a:t>method, </a:t>
                      </a:r>
                      <a:r>
                        <a:rPr lang="en-US" sz="2000" i="1" dirty="0" err="1">
                          <a:effectLst/>
                        </a:rPr>
                        <a:t>url</a:t>
                      </a:r>
                      <a:r>
                        <a:rPr lang="en-US" sz="2000" i="1" dirty="0">
                          <a:effectLst/>
                        </a:rPr>
                        <a:t>, async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Specifies the type of request</a:t>
                      </a:r>
                      <a:br>
                        <a:rPr lang="en-US" sz="2000" dirty="0">
                          <a:effectLst/>
                        </a:rPr>
                      </a:b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i="1" dirty="0">
                          <a:effectLst/>
                        </a:rPr>
                        <a:t>method</a:t>
                      </a:r>
                      <a:r>
                        <a:rPr lang="en-US" sz="2000" dirty="0">
                          <a:effectLst/>
                        </a:rPr>
                        <a:t>: the type of request: GET or POST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i="1" dirty="0">
                          <a:effectLst/>
                        </a:rPr>
                        <a:t>url</a:t>
                      </a:r>
                      <a:r>
                        <a:rPr lang="en-US" sz="2000" dirty="0">
                          <a:effectLst/>
                        </a:rPr>
                        <a:t>: the server (file) location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i="1" dirty="0">
                          <a:effectLst/>
                        </a:rPr>
                        <a:t>async</a:t>
                      </a:r>
                      <a:r>
                        <a:rPr lang="en-US" sz="2000" dirty="0">
                          <a:effectLst/>
                        </a:rPr>
                        <a:t>: true (asynchronous) or false (synchronous)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962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send()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Sends the request to the server (used for GET)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54326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send(</a:t>
                      </a:r>
                      <a:r>
                        <a:rPr lang="en-US" sz="2000" i="1">
                          <a:effectLst/>
                        </a:rPr>
                        <a:t>string</a:t>
                      </a:r>
                      <a:r>
                        <a:rPr lang="en-US" sz="2000">
                          <a:effectLst/>
                        </a:rPr>
                        <a:t>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Sends the request to the server (used for POST)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86712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83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GET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simple GET request:</a:t>
            </a:r>
          </a:p>
          <a:p>
            <a:pPr lvl="1"/>
            <a:r>
              <a:rPr lang="it-IT" sz="2000" dirty="0"/>
              <a:t>xhttp.open("</a:t>
            </a:r>
            <a:r>
              <a:rPr lang="it-IT" sz="2000" dirty="0">
                <a:solidFill>
                  <a:schemeClr val="bg2">
                    <a:lumMod val="50000"/>
                  </a:schemeClr>
                </a:solidFill>
              </a:rPr>
              <a:t>GET</a:t>
            </a:r>
            <a:r>
              <a:rPr lang="it-IT" sz="2000" dirty="0"/>
              <a:t>", "demo_get.php", true);</a:t>
            </a:r>
          </a:p>
          <a:p>
            <a:pPr lvl="1"/>
            <a:r>
              <a:rPr lang="it-IT" sz="2000" dirty="0"/>
              <a:t>xhttp.send();</a:t>
            </a:r>
          </a:p>
          <a:p>
            <a:endParaRPr lang="en-US" sz="2000" dirty="0"/>
          </a:p>
          <a:p>
            <a:r>
              <a:rPr lang="en-US" sz="2000" dirty="0"/>
              <a:t>To get some specific data using GET method, need to use below example</a:t>
            </a:r>
          </a:p>
          <a:p>
            <a:r>
              <a:rPr lang="en-US" sz="2000" dirty="0"/>
              <a:t>Example 1:</a:t>
            </a:r>
          </a:p>
          <a:p>
            <a:pPr lvl="1"/>
            <a:r>
              <a:rPr lang="de-DE" sz="2000" dirty="0"/>
              <a:t>xhttp.open("GET", "</a:t>
            </a:r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demo_get.php?t=</a:t>
            </a:r>
            <a:r>
              <a:rPr lang="de-DE" sz="2000" dirty="0"/>
              <a:t>" + Math.random(), true);</a:t>
            </a:r>
          </a:p>
          <a:p>
            <a:pPr lvl="1"/>
            <a:r>
              <a:rPr lang="de-DE" sz="2000" dirty="0"/>
              <a:t>xhttp.send();</a:t>
            </a:r>
          </a:p>
          <a:p>
            <a:endParaRPr lang="de-DE" sz="2000" dirty="0"/>
          </a:p>
          <a:p>
            <a:r>
              <a:rPr lang="de-DE" sz="2000" dirty="0"/>
              <a:t>Example 2:</a:t>
            </a:r>
          </a:p>
          <a:p>
            <a:r>
              <a:rPr lang="en-US" dirty="0"/>
              <a:t>xhttp.open("GET", "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demo_get2.php?fname=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Henry&amp;lname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=Ford</a:t>
            </a:r>
            <a:r>
              <a:rPr lang="en-US" dirty="0"/>
              <a:t>", true);</a:t>
            </a:r>
            <a:br>
              <a:rPr lang="en-US" sz="2000" dirty="0"/>
            </a:br>
            <a:r>
              <a:rPr lang="en-US" dirty="0" err="1"/>
              <a:t>xhttp.send</a:t>
            </a:r>
            <a:r>
              <a:rPr lang="en-US" dirty="0"/>
              <a:t>();</a:t>
            </a:r>
            <a:endParaRPr lang="en-US" sz="2000" dirty="0"/>
          </a:p>
          <a:p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3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POST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simple </a:t>
            </a:r>
            <a:r>
              <a:rPr lang="en-US" sz="2000" b="1" dirty="0"/>
              <a:t>POST</a:t>
            </a:r>
            <a:r>
              <a:rPr lang="en-US" sz="2000" dirty="0"/>
              <a:t> request</a:t>
            </a:r>
          </a:p>
          <a:p>
            <a:pPr lvl="1"/>
            <a:r>
              <a:rPr lang="it-IT" sz="2000" dirty="0"/>
              <a:t>xhttp.open("</a:t>
            </a:r>
            <a:r>
              <a:rPr lang="it-IT" sz="2000" dirty="0">
                <a:solidFill>
                  <a:schemeClr val="bg2">
                    <a:lumMod val="50000"/>
                  </a:schemeClr>
                </a:solidFill>
              </a:rPr>
              <a:t>POST</a:t>
            </a:r>
            <a:r>
              <a:rPr lang="it-IT" sz="2000" dirty="0"/>
              <a:t>", "demo_post</a:t>
            </a:r>
            <a:r>
              <a:rPr lang="en-US" sz="2000" dirty="0"/>
              <a:t>.php </a:t>
            </a:r>
            <a:r>
              <a:rPr lang="it-IT" sz="2000" dirty="0"/>
              <a:t>", true);</a:t>
            </a:r>
          </a:p>
          <a:p>
            <a:pPr lvl="1"/>
            <a:r>
              <a:rPr lang="it-IT" sz="2000" dirty="0"/>
              <a:t>xhttp.send();</a:t>
            </a:r>
          </a:p>
          <a:p>
            <a:pPr lvl="1"/>
            <a:endParaRPr lang="en-US" sz="2000" dirty="0"/>
          </a:p>
          <a:p>
            <a:r>
              <a:rPr lang="en-US" sz="2000" dirty="0"/>
              <a:t>To POST data like an HTML form, add an HTTP header with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setRequestHeader</a:t>
            </a:r>
            <a:r>
              <a:rPr lang="en-US" sz="2000" dirty="0"/>
              <a:t>(). </a:t>
            </a:r>
          </a:p>
          <a:p>
            <a:endParaRPr lang="en-US" sz="2000" dirty="0"/>
          </a:p>
          <a:p>
            <a:r>
              <a:rPr lang="en-US" sz="2000" dirty="0"/>
              <a:t>To get specific data using POST method need to use</a:t>
            </a:r>
          </a:p>
          <a:p>
            <a:endParaRPr lang="en-US" sz="2000" dirty="0"/>
          </a:p>
          <a:p>
            <a:r>
              <a:rPr lang="en-US" dirty="0"/>
              <a:t>xhttp.open("POST", "</a:t>
            </a:r>
            <a:r>
              <a:rPr lang="it-IT" dirty="0"/>
              <a:t> demo_post</a:t>
            </a:r>
            <a:r>
              <a:rPr lang="en-US" dirty="0"/>
              <a:t>.php", true);</a:t>
            </a:r>
            <a:br>
              <a:rPr lang="en-US" sz="2000" dirty="0"/>
            </a:br>
            <a:r>
              <a:rPr lang="en-US" dirty="0" err="1"/>
              <a:t>xhttp.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setRequestHeader</a:t>
            </a:r>
            <a:r>
              <a:rPr lang="en-US" dirty="0"/>
              <a:t>("Content-type", "application/x-www-form-</a:t>
            </a:r>
            <a:r>
              <a:rPr lang="en-US" dirty="0" err="1"/>
              <a:t>urlencoded</a:t>
            </a:r>
            <a:r>
              <a:rPr lang="en-US" dirty="0"/>
              <a:t>");</a:t>
            </a:r>
            <a:br>
              <a:rPr lang="en-US" sz="2000" dirty="0"/>
            </a:br>
            <a:r>
              <a:rPr lang="en-US" dirty="0" err="1"/>
              <a:t>xhttp.send</a:t>
            </a:r>
            <a:r>
              <a:rPr lang="en-US" dirty="0"/>
              <a:t>("</a:t>
            </a:r>
            <a:r>
              <a:rPr lang="en-US" dirty="0" err="1"/>
              <a:t>fname</a:t>
            </a:r>
            <a:r>
              <a:rPr lang="en-US" dirty="0"/>
              <a:t>=</a:t>
            </a:r>
            <a:r>
              <a:rPr lang="en-US" dirty="0" err="1"/>
              <a:t>Henry&amp;lname</a:t>
            </a:r>
            <a:r>
              <a:rPr lang="en-US" dirty="0"/>
              <a:t>=Ford");</a:t>
            </a:r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AC091F-8216-462C-85C4-53DCC7878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713769"/>
              </p:ext>
            </p:extLst>
          </p:nvPr>
        </p:nvGraphicFramePr>
        <p:xfrm>
          <a:off x="573822" y="4878973"/>
          <a:ext cx="7077075" cy="1630420"/>
        </p:xfrm>
        <a:graphic>
          <a:graphicData uri="http://schemas.openxmlformats.org/drawingml/2006/table">
            <a:tbl>
              <a:tblPr/>
              <a:tblGrid>
                <a:gridCol w="2822742">
                  <a:extLst>
                    <a:ext uri="{9D8B030D-6E8A-4147-A177-3AD203B41FA5}">
                      <a16:colId xmlns:a16="http://schemas.microsoft.com/office/drawing/2014/main" val="4246806682"/>
                    </a:ext>
                  </a:extLst>
                </a:gridCol>
                <a:gridCol w="4254333">
                  <a:extLst>
                    <a:ext uri="{9D8B030D-6E8A-4147-A177-3AD203B41FA5}">
                      <a16:colId xmlns:a16="http://schemas.microsoft.com/office/drawing/2014/main" val="4179749522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018815"/>
                  </a:ext>
                </a:extLst>
              </a:tr>
              <a:tr h="106115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setRequestHeader(</a:t>
                      </a:r>
                      <a:r>
                        <a:rPr lang="en-US" sz="1800" i="1">
                          <a:effectLst/>
                        </a:rPr>
                        <a:t>header, value</a:t>
                      </a:r>
                      <a:r>
                        <a:rPr lang="en-US" sz="1800">
                          <a:effectLst/>
                        </a:rPr>
                        <a:t>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Adds HTTP headers to the request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header</a:t>
                      </a:r>
                      <a:r>
                        <a:rPr lang="en-US" sz="1800" dirty="0">
                          <a:effectLst/>
                        </a:rPr>
                        <a:t>: specifies the header name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value</a:t>
                      </a:r>
                      <a:r>
                        <a:rPr lang="en-US" sz="1800" dirty="0">
                          <a:effectLst/>
                        </a:rPr>
                        <a:t>: specifies the header value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81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50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Asynchronous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Server requests should be sent </a:t>
            </a:r>
            <a:r>
              <a:rPr lang="en-US" sz="2000" dirty="0" err="1"/>
              <a:t>asynchronously.The</a:t>
            </a:r>
            <a:r>
              <a:rPr lang="en-US" sz="2000" dirty="0"/>
              <a:t> async parameter of the open() method should be set to true:</a:t>
            </a:r>
          </a:p>
          <a:p>
            <a:r>
              <a:rPr lang="en-US" sz="2000" dirty="0" err="1"/>
              <a:t>xhttp.open</a:t>
            </a:r>
            <a:r>
              <a:rPr lang="en-US" sz="2000" dirty="0"/>
              <a:t>("GET", "</a:t>
            </a:r>
            <a:r>
              <a:rPr lang="it-IT" sz="2000" dirty="0"/>
              <a:t> demo_post</a:t>
            </a:r>
            <a:r>
              <a:rPr lang="en-US" sz="2000" dirty="0"/>
              <a:t>.php",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true</a:t>
            </a:r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By sending asynchronously, the JavaScript does not have to wait for the server response.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execute other scripts while waiting for server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deal with the response after the response is ready</a:t>
            </a:r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C864CA-E1E3-4B8F-AEAA-AD020BFAC3AE}"/>
              </a:ext>
            </a:extLst>
          </p:cNvPr>
          <p:cNvGrpSpPr/>
          <p:nvPr/>
        </p:nvGrpSpPr>
        <p:grpSpPr>
          <a:xfrm>
            <a:off x="1627646" y="3676496"/>
            <a:ext cx="5586904" cy="3061929"/>
            <a:chOff x="1627646" y="3676496"/>
            <a:chExt cx="5586904" cy="3061929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9BBB443C-7B9C-48C1-B3A6-8187AA7BBB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7646" y="3676496"/>
              <a:ext cx="5586904" cy="30619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CB97FF2-290D-4381-B99E-4E8AC55BECEF}"/>
                </a:ext>
              </a:extLst>
            </p:cNvPr>
            <p:cNvSpPr/>
            <p:nvPr/>
          </p:nvSpPr>
          <p:spPr>
            <a:xfrm>
              <a:off x="5190978" y="6262900"/>
              <a:ext cx="1899139" cy="320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007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0" y="595100"/>
            <a:ext cx="5233183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Synchronous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synchronous request blocks the client until operation completes i.e. browser is unresponsive.</a:t>
            </a:r>
          </a:p>
          <a:p>
            <a:r>
              <a:rPr lang="en-US" sz="2000" dirty="0"/>
              <a:t>To execute a synchronous request, change the third parameter in the open() method to false:</a:t>
            </a:r>
          </a:p>
          <a:p>
            <a:r>
              <a:rPr lang="en-US" sz="2000" dirty="0" err="1"/>
              <a:t>xhttp.open</a:t>
            </a:r>
            <a:r>
              <a:rPr lang="en-US" sz="2000" dirty="0"/>
              <a:t>("GET", "ajax_info.txt",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false</a:t>
            </a:r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Sometimes async = false are used for quick testing.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7EB852-9D26-45DA-AAEE-83EDF35CA4F9}"/>
              </a:ext>
            </a:extLst>
          </p:cNvPr>
          <p:cNvGrpSpPr/>
          <p:nvPr/>
        </p:nvGrpSpPr>
        <p:grpSpPr>
          <a:xfrm>
            <a:off x="1787182" y="3833833"/>
            <a:ext cx="5246663" cy="2921437"/>
            <a:chOff x="1787182" y="3833833"/>
            <a:chExt cx="5246663" cy="292143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65BAA3B-0527-4B95-9273-752C8D2774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7182" y="3833833"/>
              <a:ext cx="5246663" cy="292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F5A231-46B5-4576-9A7E-0E318F7322E7}"/>
                </a:ext>
              </a:extLst>
            </p:cNvPr>
            <p:cNvSpPr/>
            <p:nvPr/>
          </p:nvSpPr>
          <p:spPr>
            <a:xfrm>
              <a:off x="5219114" y="6262900"/>
              <a:ext cx="1547446" cy="2785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775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AJAX Response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readyState</a:t>
            </a:r>
            <a:r>
              <a:rPr lang="en-US" sz="2000" dirty="0"/>
              <a:t> property holds the status of the XMLHttpRequest.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onreadystatechange</a:t>
            </a:r>
            <a:r>
              <a:rPr lang="en-US" sz="2000" dirty="0"/>
              <a:t> property defines a function to be executed when 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readyState</a:t>
            </a:r>
            <a:r>
              <a:rPr lang="en-US" sz="2000" dirty="0"/>
              <a:t>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status</a:t>
            </a:r>
            <a:r>
              <a:rPr lang="en-US" sz="2000" dirty="0"/>
              <a:t> property and 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statusText</a:t>
            </a:r>
            <a:r>
              <a:rPr lang="en-US" sz="2000" dirty="0"/>
              <a:t> property holds the status of the XMLHttpRequest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onreadystatechange</a:t>
            </a:r>
            <a:r>
              <a:rPr lang="en-US" sz="2000" dirty="0"/>
              <a:t> function is called every time the readyState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readyState</a:t>
            </a:r>
            <a:r>
              <a:rPr lang="en-US" sz="2000" dirty="0"/>
              <a:t> is 4 and status is 200, the response is ready:</a:t>
            </a:r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86A84F-2CE7-420C-9889-CD7087D87A9B}"/>
              </a:ext>
            </a:extLst>
          </p:cNvPr>
          <p:cNvSpPr/>
          <p:nvPr/>
        </p:nvSpPr>
        <p:spPr>
          <a:xfrm>
            <a:off x="682283" y="3718679"/>
            <a:ext cx="704087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 loadDoc() {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var xhttp = new XMLHttpRequest();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xhttp.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onreadystatechange</a:t>
            </a:r>
            <a:r>
              <a:rPr lang="en-US" dirty="0">
                <a:latin typeface="Consolas" panose="020B0609020204030204" pitchFamily="49" charset="0"/>
              </a:rPr>
              <a:t> = function() {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 if (this.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readyState</a:t>
            </a:r>
            <a:r>
              <a:rPr lang="en-US" dirty="0">
                <a:latin typeface="Consolas" panose="020B0609020204030204" pitchFamily="49" charset="0"/>
              </a:rPr>
              <a:t> == 4 &amp;&amp; this.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status</a:t>
            </a:r>
            <a:r>
              <a:rPr lang="en-US" dirty="0">
                <a:latin typeface="Consolas" panose="020B0609020204030204" pitchFamily="49" charset="0"/>
              </a:rPr>
              <a:t> == 200) {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   document.getElementById("demo").innerHTML =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   this.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responseText</a:t>
            </a:r>
            <a:r>
              <a:rPr lang="en-US" dirty="0"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 }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};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xhttp.open("GET", "ajax_info.txt", true);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xhttp.send();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31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AJAX Response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58D678-8B22-42CA-84D2-7A5FFCBDF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570432"/>
              </p:ext>
            </p:extLst>
          </p:nvPr>
        </p:nvGraphicFramePr>
        <p:xfrm>
          <a:off x="389091" y="4936860"/>
          <a:ext cx="7077075" cy="1087038"/>
        </p:xfrm>
        <a:graphic>
          <a:graphicData uri="http://schemas.openxmlformats.org/drawingml/2006/table">
            <a:tbl>
              <a:tblPr/>
              <a:tblGrid>
                <a:gridCol w="1860260">
                  <a:extLst>
                    <a:ext uri="{9D8B030D-6E8A-4147-A177-3AD203B41FA5}">
                      <a16:colId xmlns:a16="http://schemas.microsoft.com/office/drawing/2014/main" val="2937790102"/>
                    </a:ext>
                  </a:extLst>
                </a:gridCol>
                <a:gridCol w="5216815">
                  <a:extLst>
                    <a:ext uri="{9D8B030D-6E8A-4147-A177-3AD203B41FA5}">
                      <a16:colId xmlns:a16="http://schemas.microsoft.com/office/drawing/2014/main" val="1900485207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</a:rPr>
                        <a:t>Property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107493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responseText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get the response data as a JS string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720947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responseXML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get the response data as XML Object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2970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DD7CCD-BB1A-4FFB-87F1-CCFEFED26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59659"/>
              </p:ext>
            </p:extLst>
          </p:nvPr>
        </p:nvGraphicFramePr>
        <p:xfrm>
          <a:off x="351691" y="1971948"/>
          <a:ext cx="7793503" cy="1552912"/>
        </p:xfrm>
        <a:graphic>
          <a:graphicData uri="http://schemas.openxmlformats.org/drawingml/2006/table">
            <a:tbl>
              <a:tblPr/>
              <a:tblGrid>
                <a:gridCol w="2048578">
                  <a:extLst>
                    <a:ext uri="{9D8B030D-6E8A-4147-A177-3AD203B41FA5}">
                      <a16:colId xmlns:a16="http://schemas.microsoft.com/office/drawing/2014/main" val="1736188255"/>
                    </a:ext>
                  </a:extLst>
                </a:gridCol>
                <a:gridCol w="5744925">
                  <a:extLst>
                    <a:ext uri="{9D8B030D-6E8A-4147-A177-3AD203B41FA5}">
                      <a16:colId xmlns:a16="http://schemas.microsoft.com/office/drawing/2014/main" val="2883563303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8400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getResponseHeader()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Returns specific header information from the server resource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164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getAllResponseHeaders()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Returns all the header information from the server resource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2504"/>
                  </a:ext>
                </a:extLst>
              </a:tr>
            </a:tbl>
          </a:graphicData>
        </a:graphic>
      </p:graphicFrame>
      <p:sp>
        <p:nvSpPr>
          <p:cNvPr id="13" name="Rectangle 4">
            <a:extLst>
              <a:ext uri="{FF2B5EF4-FFF2-40B4-BE49-F238E27FC236}">
                <a16:creationId xmlns:a16="http://schemas.microsoft.com/office/drawing/2014/main" id="{15B2997C-CF1A-4CA8-AE8C-E80B9D35B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22" y="4209984"/>
            <a:ext cx="5078438" cy="6699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106329" tIns="179331" rIns="-106329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Server Response Properties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BB0C7231-498F-462D-9B07-355728CD6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56" y="1286603"/>
            <a:ext cx="5434934" cy="487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Server Response Methods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23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817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41519" y="2135452"/>
            <a:ext cx="8229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 JSON file is a file that stores simple data structures and objects in JavaScript Object Notation (JSON) format, which is a standard data interchange format.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It is primarily used for transmitting data between a web application and a server. JSON files are lightweight, text-based, human-readable, and can be edited using a text editor.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DA03-1227-4496-A172-47FFFFF1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JSON vs XML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93E2FD9-CEC2-4694-AFC1-692ECADF6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155558"/>
            <a:ext cx="8386441" cy="36009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/>
              <a:t>Similarities: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are "self describing" (human readable)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are hierarchical (values within values)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can be parsed and used by lots of programming languages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can be fetched with an </a:t>
            </a:r>
            <a:r>
              <a:rPr lang="en-US" sz="2000" dirty="0" err="1"/>
              <a:t>XMLHttpRequest</a:t>
            </a:r>
            <a:endParaRPr lang="en-US" sz="2000" dirty="0"/>
          </a:p>
          <a:p>
            <a:r>
              <a:rPr lang="en-US" sz="2400" dirty="0"/>
              <a:t>Differences: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doesn't use end tag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is shorter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is quicker to read and write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can use arrays</a:t>
            </a:r>
          </a:p>
        </p:txBody>
      </p:sp>
    </p:spTree>
    <p:extLst>
      <p:ext uri="{BB962C8B-B14F-4D97-AF65-F5344CB8AC3E}">
        <p14:creationId xmlns:p14="http://schemas.microsoft.com/office/powerpoint/2010/main" val="1632607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4DE4C3-F28C-4264-9AFC-1A4877EF21EC}"/>
              </a:ext>
            </a:extLst>
          </p:cNvPr>
          <p:cNvSpPr/>
          <p:nvPr/>
        </p:nvSpPr>
        <p:spPr>
          <a:xfrm>
            <a:off x="335494" y="1224576"/>
            <a:ext cx="898222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JSON Example (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employee.json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"employees"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:[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"John"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"Doe"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},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"Anna"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"Smith"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},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"Peter"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"Jones"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XML Example (employee.xml)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John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Doe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Anna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Smith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Peter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Jones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65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9" y="2239411"/>
            <a:ext cx="838644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string { "</a:t>
            </a:r>
            <a:r>
              <a:rPr lang="en-US" sz="2400" dirty="0" err="1"/>
              <a:t>name":"John</a:t>
            </a:r>
            <a:r>
              <a:rPr lang="en-US" sz="2400" dirty="0"/>
              <a:t>"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number { "age":30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object (JSON object) </a:t>
            </a:r>
          </a:p>
          <a:p>
            <a:r>
              <a:rPr lang="en-US" sz="2400" dirty="0"/>
              <a:t>	{</a:t>
            </a:r>
            <a:br>
              <a:rPr lang="en-US" sz="2400" dirty="0"/>
            </a:br>
            <a:r>
              <a:rPr lang="en-US" sz="2400" dirty="0"/>
              <a:t>	"employee":{ "</a:t>
            </a:r>
            <a:r>
              <a:rPr lang="en-US" sz="2400" dirty="0" err="1"/>
              <a:t>name":"John</a:t>
            </a:r>
            <a:r>
              <a:rPr lang="en-US" sz="2400" dirty="0"/>
              <a:t>", "age":30, "</a:t>
            </a:r>
            <a:r>
              <a:rPr lang="en-US" sz="2400" dirty="0" err="1"/>
              <a:t>city":"New</a:t>
            </a:r>
            <a:r>
              <a:rPr lang="en-US" sz="2400" dirty="0"/>
              <a:t> York" }</a:t>
            </a:r>
            <a:br>
              <a:rPr lang="en-US" sz="2400" dirty="0"/>
            </a:br>
            <a:r>
              <a:rPr lang="en-US" sz="2400" dirty="0"/>
              <a:t>	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array { "employees":[ "John", "Anna", "Peter" ]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Boolean { "</a:t>
            </a:r>
            <a:r>
              <a:rPr lang="en-US" sz="2400" dirty="0" err="1"/>
              <a:t>sale":true</a:t>
            </a:r>
            <a:r>
              <a:rPr lang="en-US" sz="2400" dirty="0"/>
              <a:t>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/>
              <a:t>Null </a:t>
            </a:r>
            <a:r>
              <a:rPr lang="en-US" sz="2400" dirty="0"/>
              <a:t>{ "</a:t>
            </a:r>
            <a:r>
              <a:rPr lang="en-US" sz="2400" dirty="0" err="1"/>
              <a:t>middlename</a:t>
            </a:r>
            <a:r>
              <a:rPr lang="en-US" sz="2400" dirty="0"/>
              <a:t>":null }</a:t>
            </a:r>
          </a:p>
        </p:txBody>
      </p:sp>
    </p:spTree>
    <p:extLst>
      <p:ext uri="{BB962C8B-B14F-4D97-AF65-F5344CB8AC3E}">
        <p14:creationId xmlns:p14="http://schemas.microsoft.com/office/powerpoint/2010/main" val="287380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EFD9-E447-4175-BD2A-018B1975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PHP JSON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79914-A479-4DE8-8BE0-C887D3459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598222"/>
            <a:ext cx="8574087" cy="4527941"/>
          </a:xfrm>
        </p:spPr>
        <p:txBody>
          <a:bodyPr/>
          <a:lstStyle/>
          <a:p>
            <a:r>
              <a:rPr lang="en-US" dirty="0" err="1"/>
              <a:t>json_encode</a:t>
            </a:r>
            <a:r>
              <a:rPr lang="en-US" dirty="0"/>
              <a:t>()  - The </a:t>
            </a:r>
            <a:r>
              <a:rPr lang="en-US" dirty="0" err="1"/>
              <a:t>json_encode</a:t>
            </a:r>
            <a:r>
              <a:rPr lang="en-US" dirty="0"/>
              <a:t>() function is used to encode a value to JSON format.</a:t>
            </a:r>
          </a:p>
          <a:p>
            <a:r>
              <a:rPr lang="en-US" dirty="0"/>
              <a:t> </a:t>
            </a:r>
            <a:r>
              <a:rPr lang="en-US" dirty="0" err="1"/>
              <a:t>json_decode</a:t>
            </a:r>
            <a:r>
              <a:rPr lang="en-US" dirty="0"/>
              <a:t>() - The </a:t>
            </a:r>
            <a:r>
              <a:rPr lang="en-US" dirty="0" err="1"/>
              <a:t>json_decode</a:t>
            </a:r>
            <a:r>
              <a:rPr lang="en-US" dirty="0"/>
              <a:t>() function is used to decode or convert a JSON object to a PHP object.</a:t>
            </a:r>
          </a:p>
          <a:p>
            <a:r>
              <a:rPr lang="en-US" dirty="0" err="1"/>
              <a:t>file_put_contents</a:t>
            </a:r>
            <a:r>
              <a:rPr lang="en-US" dirty="0"/>
              <a:t>() - The </a:t>
            </a:r>
            <a:r>
              <a:rPr lang="en-US" dirty="0" err="1"/>
              <a:t>file_put_contents</a:t>
            </a:r>
            <a:r>
              <a:rPr lang="en-US" dirty="0"/>
              <a:t>() writes data to a file.</a:t>
            </a:r>
          </a:p>
          <a:p>
            <a:r>
              <a:rPr lang="en-US" dirty="0" err="1"/>
              <a:t>file_get_contents</a:t>
            </a:r>
            <a:r>
              <a:rPr lang="en-US"/>
              <a:t>() </a:t>
            </a:r>
            <a:r>
              <a:rPr lang="en-US" dirty="0"/>
              <a:t>- The </a:t>
            </a:r>
            <a:r>
              <a:rPr lang="en-US" dirty="0" err="1"/>
              <a:t>file_get_contents</a:t>
            </a:r>
            <a:r>
              <a:rPr lang="en-US" dirty="0"/>
              <a:t>() reads a file into a string.</a:t>
            </a:r>
          </a:p>
        </p:txBody>
      </p:sp>
    </p:spTree>
    <p:extLst>
      <p:ext uri="{BB962C8B-B14F-4D97-AF65-F5344CB8AC3E}">
        <p14:creationId xmlns:p14="http://schemas.microsoft.com/office/powerpoint/2010/main" val="1003253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an HTML file (e.g., index.html) and include the necessary HTML structure.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A13FA-B830-0463-B00D-1B4C4BB55877}"/>
              </a:ext>
            </a:extLst>
          </p:cNvPr>
          <p:cNvSpPr txBox="1"/>
          <p:nvPr/>
        </p:nvSpPr>
        <p:spPr>
          <a:xfrm>
            <a:off x="421341" y="2496977"/>
            <a:ext cx="86710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&lt;!</a:t>
            </a:r>
            <a:r>
              <a:rPr lang="en-US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&lt;html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lang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en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&lt;head&gt;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&lt;meta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charset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"UTF-8"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&lt;meta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"viewport"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content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"width=device-width, initial-scale=1.0"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&lt;title&gt;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AJAX Tutorial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&lt;/title&gt;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&lt;/head&gt;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"content"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&lt;!-- Content will be loaded here --&gt;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&lt;button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loadData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 Data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&lt;/button&gt;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301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 JavaScript file (e.g., script.js) and write the AJAX code to fetch data from a server.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4FB56-CDE0-A11E-8DFC-1EECE5D256D9}"/>
              </a:ext>
            </a:extLst>
          </p:cNvPr>
          <p:cNvSpPr txBox="1"/>
          <p:nvPr/>
        </p:nvSpPr>
        <p:spPr>
          <a:xfrm>
            <a:off x="157654" y="2692123"/>
            <a:ext cx="949084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loadData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addEventListener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'click'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XMLHttpRequest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'GET'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data.json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onload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&amp;&amp;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300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parse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responseText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'content'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innerHTML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} </a:t>
            </a:r>
            <a:r>
              <a:rPr 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 with status 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send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792843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 JSON file (e.g., </a:t>
            </a:r>
            <a:r>
              <a:rPr lang="en-US" dirty="0" err="1"/>
              <a:t>data.json</a:t>
            </a:r>
            <a:r>
              <a:rPr lang="en-US" dirty="0"/>
              <a:t>) with some sample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2656B-0BC9-001E-A0B2-2A0044DE6AE2}"/>
              </a:ext>
            </a:extLst>
          </p:cNvPr>
          <p:cNvSpPr txBox="1"/>
          <p:nvPr/>
        </p:nvSpPr>
        <p:spPr>
          <a:xfrm>
            <a:off x="819807" y="2496977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"message"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"Hello, AJAX!"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337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fetch MySQL data using PHP and return it as JSON, you can follow these steps: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 to the MySQL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 a query to fetch the desired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 the data and convert it into a PHP associative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 the PHP array into JSON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the JSON data.</a:t>
            </a:r>
          </a:p>
        </p:txBody>
      </p:sp>
    </p:spTree>
    <p:extLst>
      <p:ext uri="{BB962C8B-B14F-4D97-AF65-F5344CB8AC3E}">
        <p14:creationId xmlns:p14="http://schemas.microsoft.com/office/powerpoint/2010/main" val="2881754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195FC-8D42-0147-D2ED-50BD157C765D}"/>
              </a:ext>
            </a:extLst>
          </p:cNvPr>
          <p:cNvSpPr txBox="1"/>
          <p:nvPr/>
        </p:nvSpPr>
        <p:spPr>
          <a:xfrm>
            <a:off x="589937" y="2323810"/>
            <a:ext cx="8686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&lt;?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php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Database connection parameters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servername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"localhost"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$username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"username"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$password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"password"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$database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database_name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Create connection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mysqli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servername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$username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$password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$database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Check connection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connect_error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"Connection failed: "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.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connect_error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302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435A6-F428-E6AA-279B-93C1CA0E952F}"/>
              </a:ext>
            </a:extLst>
          </p:cNvPr>
          <p:cNvSpPr txBox="1"/>
          <p:nvPr/>
        </p:nvSpPr>
        <p:spPr>
          <a:xfrm>
            <a:off x="641555" y="1537141"/>
            <a:ext cx="968969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SQL query to fetch data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12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sql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"SELECT * FROM </a:t>
            </a:r>
            <a:r>
              <a:rPr lang="en-US" sz="12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your_table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$result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query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12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sql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$result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12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num_rows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Initialize an array to store the data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Fetch data from each row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$row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$result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12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fetch_assoc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())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Add each row to the data array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$row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Convert data array to JSON format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12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json_data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json_encode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Output JSON data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header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'Content-Type: application/</a:t>
            </a:r>
            <a:r>
              <a:rPr lang="en-US" sz="12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echo $</a:t>
            </a:r>
            <a:r>
              <a:rPr lang="en-US" sz="12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json_data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No data found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echo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"No data found"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Close connection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$conn-&gt;</a:t>
            </a:r>
            <a:r>
              <a:rPr lang="en-US" sz="12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close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?&gt;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40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251843" y="1743399"/>
            <a:ext cx="86403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MySQL - </a:t>
            </a:r>
            <a:r>
              <a:rPr lang="en-US" sz="2800" dirty="0">
                <a:hlinkClick r:id="rId2"/>
              </a:rPr>
              <a:t>www.mysql.com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W3Schools Online Web Tutorials- </a:t>
            </a:r>
            <a:r>
              <a:rPr lang="en-US" sz="2800" dirty="0">
                <a:hlinkClick r:id="rId3"/>
              </a:rPr>
              <a:t>www.w3schools.com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PHP Manual - </a:t>
            </a:r>
            <a:r>
              <a:rPr lang="en-US" sz="2800" dirty="0">
                <a:hlinkClick r:id="rId4"/>
              </a:rPr>
              <a:t>www.php.net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Free Online Tutorials - </a:t>
            </a:r>
            <a:r>
              <a:rPr lang="en-US" sz="2800" dirty="0">
                <a:hlinkClick r:id="rId5"/>
              </a:rPr>
              <a:t>www.javatpoint.com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5759" y="1605903"/>
            <a:ext cx="84124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Teach Yourself Ajax JavaScript and PHP All in One; Phil Ballard and Michael Moncur;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Publishing;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Phrasebook; Christian Wenz; </a:t>
            </a:r>
            <a:r>
              <a:rPr lang="en-US" sz="2400" dirty="0" err="1"/>
              <a:t>Sams</a:t>
            </a:r>
            <a:r>
              <a:rPr lang="en-US" sz="2400" dirty="0"/>
              <a:t> Publishing; 2007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PHP and MySQL Web Development, 4/E; Luke Welling and Laura Thomson; </a:t>
            </a:r>
            <a:r>
              <a:rPr lang="en-US" sz="2400" dirty="0" err="1"/>
              <a:t>AddisonWesley</a:t>
            </a:r>
            <a:r>
              <a:rPr lang="en-US" sz="2400" dirty="0"/>
              <a:t> Professional; 2009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for Programmers Paul J. </a:t>
            </a:r>
            <a:r>
              <a:rPr lang="en-US" sz="2400" dirty="0" err="1"/>
              <a:t>Deitel</a:t>
            </a:r>
            <a:r>
              <a:rPr lang="en-US" sz="2400" dirty="0"/>
              <a:t> and Harvey M. </a:t>
            </a:r>
            <a:r>
              <a:rPr lang="en-US" sz="2400" dirty="0" err="1"/>
              <a:t>Deitel</a:t>
            </a:r>
            <a:r>
              <a:rPr lang="en-US" sz="2400" dirty="0"/>
              <a:t>; Prentice Hall; 2009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5F7EC6-D35F-4F8D-8F9F-248645B245B7}"/>
</file>

<file path=customXml/itemProps2.xml><?xml version="1.0" encoding="utf-8"?>
<ds:datastoreItem xmlns:ds="http://schemas.openxmlformats.org/officeDocument/2006/customXml" ds:itemID="{F03A3496-0CA4-49EE-A940-C4962275394C}"/>
</file>

<file path=customXml/itemProps3.xml><?xml version="1.0" encoding="utf-8"?>
<ds:datastoreItem xmlns:ds="http://schemas.openxmlformats.org/officeDocument/2006/customXml" ds:itemID="{4B4207F2-FBA7-4105-A137-7BD9009D7388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4826</TotalTime>
  <Words>2493</Words>
  <Application>Microsoft Office PowerPoint</Application>
  <PresentationFormat>On-screen Show (4:3)</PresentationFormat>
  <Paragraphs>295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Consolas</vt:lpstr>
      <vt:lpstr>Corbel</vt:lpstr>
      <vt:lpstr>Courier New</vt:lpstr>
      <vt:lpstr>Segoe UI</vt:lpstr>
      <vt:lpstr>Wingdings</vt:lpstr>
      <vt:lpstr>Spectrum</vt:lpstr>
      <vt:lpstr>AJAX and JSON</vt:lpstr>
      <vt:lpstr>Lecture Outline</vt:lpstr>
      <vt:lpstr>Introduction to AJAX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JSON</vt:lpstr>
      <vt:lpstr>JSON vs XML</vt:lpstr>
      <vt:lpstr>PowerPoint Presentation</vt:lpstr>
      <vt:lpstr>JSON Data Types</vt:lpstr>
      <vt:lpstr>PHP JSON Functions</vt:lpstr>
      <vt:lpstr>AJAX And JSON</vt:lpstr>
      <vt:lpstr>AJAX And JSON</vt:lpstr>
      <vt:lpstr>AJAX And JSON</vt:lpstr>
      <vt:lpstr>AJAX And JSON</vt:lpstr>
      <vt:lpstr>AJAX And JSON</vt:lpstr>
      <vt:lpstr>AJAX And JSON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502</cp:revision>
  <dcterms:created xsi:type="dcterms:W3CDTF">2018-12-10T17:20:29Z</dcterms:created>
  <dcterms:modified xsi:type="dcterms:W3CDTF">2024-12-16T17:07:29Z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