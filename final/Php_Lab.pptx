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8" r:id="rId4"/>
    <p:sldId id="267" r:id="rId5"/>
    <p:sldId id="270" r:id="rId6"/>
    <p:sldId id="295" r:id="rId7"/>
    <p:sldId id="291" r:id="rId8"/>
    <p:sldId id="296" r:id="rId9"/>
    <p:sldId id="292" r:id="rId10"/>
    <p:sldId id="293" r:id="rId11"/>
    <p:sldId id="297" r:id="rId12"/>
    <p:sldId id="294" r:id="rId13"/>
    <p:sldId id="298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ustak.nobi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/application/index.php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US/docs/Web/HTTP/Status" TargetMode="External"/><Relationship Id="rId2" Type="http://schemas.openxmlformats.org/officeDocument/2006/relationships/hyperlink" Target="https://www.ntu.edu.sg/home/ehchua/programming/webprogramming/HTTP_Basics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w3schools.com/html/html_xhtml.asp" TargetMode="External"/><Relationship Id="rId4" Type="http://schemas.openxmlformats.org/officeDocument/2006/relationships/hyperlink" Target="https://www.w3schools.com/html/html_intro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 to PHP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41014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</a:t>
                      </a:r>
                      <a:r>
                        <a:rPr lang="en-US" i="1" dirty="0" err="1"/>
                        <a:t>Mustak</a:t>
                      </a:r>
                      <a:r>
                        <a:rPr lang="en-US" i="1" dirty="0"/>
                        <a:t> Un Nobi  ( </a:t>
                      </a:r>
                      <a:r>
                        <a:rPr lang="en-US" i="1" dirty="0">
                          <a:hlinkClick r:id="rId2"/>
                        </a:rPr>
                        <a:t>mustak.nobi@aiub.edu</a:t>
                      </a:r>
                      <a:r>
                        <a:rPr lang="en-US" i="1" dirty="0"/>
                        <a:t> 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600" b="1" dirty="0">
                <a:solidFill>
                  <a:schemeClr val="tx1"/>
                </a:solidFill>
              </a:rPr>
              <a:t>PHP Installation and Run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PHP  Language</a:t>
            </a:r>
          </a:p>
          <a:p>
            <a:pPr marL="1314450" lvl="1" indent="-8572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LcPeriod"/>
            </a:pPr>
            <a:r>
              <a:rPr lang="en-US" b="1" dirty="0">
                <a:solidFill>
                  <a:schemeClr val="tx1"/>
                </a:solidFill>
              </a:rPr>
              <a:t>Variables</a:t>
            </a:r>
          </a:p>
          <a:p>
            <a:pPr marL="1314450" lvl="1" indent="-8572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LcPeriod"/>
            </a:pPr>
            <a:r>
              <a:rPr lang="en-US" b="1" dirty="0">
                <a:solidFill>
                  <a:schemeClr val="tx1"/>
                </a:solidFill>
              </a:rPr>
              <a:t>Data Type and Array</a:t>
            </a:r>
          </a:p>
          <a:p>
            <a:pPr marL="1314450" lvl="1" indent="-8572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LcPeriod"/>
            </a:pPr>
            <a:r>
              <a:rPr lang="en-US" b="1" dirty="0">
                <a:solidFill>
                  <a:schemeClr val="tx1"/>
                </a:solidFill>
              </a:rPr>
              <a:t>if-else and switch</a:t>
            </a:r>
          </a:p>
          <a:p>
            <a:pPr marL="1314450" lvl="1" indent="-8572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LcPeriod"/>
            </a:pPr>
            <a:r>
              <a:rPr lang="en-US" b="1" dirty="0">
                <a:solidFill>
                  <a:schemeClr val="tx1"/>
                </a:solidFill>
              </a:rPr>
              <a:t>Loop</a:t>
            </a:r>
          </a:p>
          <a:p>
            <a:pPr marL="1314450" lvl="1" indent="-8572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LcPeriod"/>
            </a:pPr>
            <a:r>
              <a:rPr lang="en-US" b="1" dirty="0">
                <a:solidFill>
                  <a:schemeClr val="tx1"/>
                </a:solidFill>
              </a:rPr>
              <a:t>Function</a:t>
            </a:r>
          </a:p>
          <a:p>
            <a:pPr marL="1314450" lvl="1" indent="-8572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LcPeriod"/>
            </a:pPr>
            <a:r>
              <a:rPr lang="en-US" b="1" dirty="0">
                <a:solidFill>
                  <a:schemeClr val="tx1"/>
                </a:solidFill>
              </a:rPr>
              <a:t>PHP class and Object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</a:t>
            </a:r>
            <a:r>
              <a:rPr lang="en-US" altLang="en-US" sz="2600" b="1" dirty="0">
                <a:solidFill>
                  <a:schemeClr val="tx1"/>
                </a:solidFill>
              </a:rPr>
              <a:t> and </a:t>
            </a:r>
            <a:r>
              <a:rPr lang="en-US" sz="2600" b="1" dirty="0">
                <a:solidFill>
                  <a:schemeClr val="tx1"/>
                </a:solidFill>
              </a:rPr>
              <a:t>References</a:t>
            </a:r>
            <a:endParaRPr lang="en-US" altLang="en-US" sz="2600" b="1" dirty="0">
              <a:solidFill>
                <a:schemeClr val="tx1"/>
              </a:solidFill>
            </a:endParaRPr>
          </a:p>
          <a:p>
            <a:pPr lvl="1" algn="l">
              <a:buClr>
                <a:prstClr val="black">
                  <a:lumMod val="75000"/>
                  <a:lumOff val="25000"/>
                </a:prstClr>
              </a:buClr>
            </a:pPr>
            <a:endParaRPr lang="en-US" sz="2600" b="1" dirty="0">
              <a:solidFill>
                <a:schemeClr val="tx1"/>
              </a:solidFill>
            </a:endParaRPr>
          </a:p>
          <a:p>
            <a:pPr marL="1314450" lvl="1" indent="-8572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LcPeriod"/>
            </a:pPr>
            <a:endParaRPr lang="en-US" sz="3800" b="1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this lecture , we will learn how to install PHP in your local computer. We will use XAMPP as our Environment to run PHP script.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We will learn all aspect of PHP as a programming Language; e.g. data type and variables, conditions, loop, functions and object.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980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Installation and Run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Install XAMPP in your PC or server.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XAMPP is the most popular PHP development environment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 </a:t>
            </a:r>
            <a:r>
              <a:rPr lang="en-US" sz="2400" dirty="0"/>
              <a:t>Apache + </a:t>
            </a:r>
            <a:r>
              <a:rPr lang="en-US" sz="2400" dirty="0" err="1"/>
              <a:t>MariaDB</a:t>
            </a:r>
            <a:r>
              <a:rPr lang="en-US" sz="2400" dirty="0"/>
              <a:t>(</a:t>
            </a:r>
            <a:r>
              <a:rPr lang="en-US" sz="2400" dirty="0" err="1"/>
              <a:t>Mysql</a:t>
            </a:r>
            <a:r>
              <a:rPr lang="en-US" sz="2400" dirty="0"/>
              <a:t>) + PHP + Perl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Any PHP script as </a:t>
            </a:r>
            <a:r>
              <a:rPr lang="en-US" sz="2400" b="1" dirty="0" err="1"/>
              <a:t>index.php</a:t>
            </a:r>
            <a:r>
              <a:rPr lang="en-US" sz="2400" dirty="0"/>
              <a:t> in </a:t>
            </a:r>
            <a:r>
              <a:rPr lang="en-US" sz="2400" dirty="0" err="1"/>
              <a:t>htdocs</a:t>
            </a:r>
            <a:r>
              <a:rPr lang="en-US" sz="2400" dirty="0"/>
              <a:t>/application folder in the Apache XAMPP.</a:t>
            </a:r>
          </a:p>
          <a:p>
            <a:pPr marL="285750" lvl="0" indent="-28575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Start the server and browse </a:t>
            </a:r>
            <a:r>
              <a:rPr lang="en-US" sz="2400" dirty="0">
                <a:solidFill>
                  <a:prstClr val="black"/>
                </a:solidFill>
                <a:hlinkClick r:id="rId2"/>
              </a:rPr>
              <a:t>http://localhost/application/index.php</a:t>
            </a:r>
            <a:r>
              <a:rPr lang="en-US" sz="2400" dirty="0">
                <a:solidFill>
                  <a:prstClr val="black"/>
                </a:solidFill>
              </a:rPr>
              <a:t> in the browser. </a:t>
            </a:r>
            <a:endParaRPr lang="en-US" b="1" i="1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PHP Language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783774" y="2052729"/>
            <a:ext cx="7929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 PHP script can be placed anywhere in the document.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 PHP script starts with &lt;?</a:t>
            </a:r>
            <a:r>
              <a:rPr lang="en-US" sz="2400" dirty="0" err="1"/>
              <a:t>php</a:t>
            </a:r>
            <a:r>
              <a:rPr lang="en-US" sz="2400" dirty="0"/>
              <a:t> and ends with ?&gt;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keywords (e.g. if, else, while, echo, etc.), classes, functions, and user-defined functions are not case-sensitive.</a:t>
            </a:r>
          </a:p>
        </p:txBody>
      </p:sp>
      <p:pic>
        <p:nvPicPr>
          <p:cNvPr id="1026" name="Picture 2" descr="C:\Users\teacher\Pictures\Screenshots\Screenshot (26)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4" y="3622389"/>
            <a:ext cx="5773780" cy="2517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716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PHP  Variables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4137" y="1325554"/>
            <a:ext cx="8321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 variable starts with the $ sign, followed by the name of the variable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 variable name must start with a letter or the underscore character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 variable name cannot start with a number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 variable name can only contain alpha-numeric characters and underscores (A-z, 0-9, and _ 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Variable names are case-sensitive ($age and $AGE are two different variables).</a:t>
            </a:r>
          </a:p>
          <a:p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20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$txt = </a:t>
            </a:r>
            <a:r>
              <a:rPr lang="en-US" sz="2000" dirty="0">
                <a:solidFill>
                  <a:srgbClr val="A52A2A"/>
                </a:solidFill>
                <a:latin typeface="Consolas" pitchFamily="49" charset="0"/>
              </a:rPr>
              <a:t>"Hello world!"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$x = 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$y = 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10.5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itchFamily="49" charset="0"/>
              </a:rPr>
              <a:t>  echo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 </a:t>
            </a:r>
            <a:r>
              <a:rPr lang="en-US" sz="2000" dirty="0">
                <a:solidFill>
                  <a:srgbClr val="A52A2A"/>
                </a:solidFill>
                <a:latin typeface="Consolas" pitchFamily="49" charset="0"/>
              </a:rPr>
              <a:t>"I love "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 . $txt . </a:t>
            </a:r>
            <a:r>
              <a:rPr lang="en-US" sz="2000" dirty="0">
                <a:solidFill>
                  <a:srgbClr val="A52A2A"/>
                </a:solidFill>
                <a:latin typeface="Consolas" pitchFamily="49" charset="0"/>
              </a:rPr>
              <a:t>"!"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 pitchFamily="49" charset="0"/>
              </a:rPr>
              <a:t>  echo</a:t>
            </a:r>
            <a:r>
              <a:rPr lang="en-US" sz="2000" dirty="0">
                <a:solidFill>
                  <a:srgbClr val="000000"/>
                </a:solidFill>
                <a:latin typeface="Consolas" pitchFamily="49" charset="0"/>
              </a:rPr>
              <a:t> $x + $y;</a:t>
            </a:r>
            <a:br>
              <a:rPr lang="en-US" sz="2000" dirty="0">
                <a:latin typeface="Consolas" pitchFamily="49" charset="0"/>
              </a:rPr>
            </a:br>
            <a:r>
              <a:rPr lang="en-US" sz="2000" dirty="0">
                <a:latin typeface="Consolas" pitchFamily="49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20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588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PHP Data Type and </a:t>
            </a:r>
            <a:r>
              <a:rPr lang="en-US" altLang="en-US" sz="2800" dirty="0"/>
              <a:t>Array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4137" y="1325554"/>
            <a:ext cx="83210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PHP is not strictly typed language (loosely typed language).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PHP supports the following data types: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000" dirty="0"/>
              <a:t>String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000" dirty="0"/>
              <a:t>Integer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000" dirty="0"/>
              <a:t>Float (floating point numbers - also called double)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000" dirty="0"/>
              <a:t>Boolean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000" dirty="0"/>
              <a:t>Array</a:t>
            </a:r>
          </a:p>
          <a:p>
            <a:pPr marL="914400" lvl="1" indent="-457200">
              <a:buFont typeface="Arial" pitchFamily="34" charset="0"/>
              <a:buChar char="•"/>
            </a:pPr>
            <a:r>
              <a:rPr lang="en-US" sz="2000" dirty="0"/>
              <a:t>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96537" y="3881520"/>
            <a:ext cx="802494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$x = 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5985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var_dump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($x);</a:t>
            </a:r>
          </a:p>
          <a:p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$y = 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10.365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var_dump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($y);</a:t>
            </a:r>
          </a:p>
          <a:p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$cars =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array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Volvo"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"BMW"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"Toyota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600" dirty="0"/>
            </a:br>
            <a:r>
              <a:rPr lang="en-US" sz="1600" dirty="0" err="1">
                <a:solidFill>
                  <a:srgbClr val="000000"/>
                </a:solidFill>
                <a:latin typeface="Consolas"/>
              </a:rPr>
              <a:t>var_dump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($cars);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10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PHP if-else and switch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44137" y="1325554"/>
            <a:ext cx="83210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Like most programming languages, PHP also allows you to write code that perform different actions based on the results of a logical or comparative test conditions at run time.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000" dirty="0"/>
              <a:t>There are several statements in PHP that you can use to make decisions: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US" sz="2000" b="1" dirty="0"/>
              <a:t>The if statement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US" sz="2000" b="1" dirty="0"/>
              <a:t>The if...else statement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US" sz="2000" b="1" dirty="0"/>
              <a:t>The if...</a:t>
            </a:r>
            <a:r>
              <a:rPr lang="en-US" sz="2000" b="1" dirty="0" err="1"/>
              <a:t>elseif</a:t>
            </a:r>
            <a:r>
              <a:rPr lang="en-US" sz="2000" b="1" dirty="0"/>
              <a:t>....else statement</a:t>
            </a:r>
          </a:p>
          <a:p>
            <a:pPr marL="1371600" lvl="2" indent="-457200">
              <a:buFont typeface="Arial" pitchFamily="34" charset="0"/>
              <a:buChar char="•"/>
            </a:pPr>
            <a:r>
              <a:rPr lang="en-US" sz="2000" b="1" dirty="0"/>
              <a:t>The switch...case statement</a:t>
            </a:r>
          </a:p>
        </p:txBody>
      </p:sp>
    </p:spTree>
    <p:extLst>
      <p:ext uri="{BB962C8B-B14F-4D97-AF65-F5344CB8AC3E}">
        <p14:creationId xmlns:p14="http://schemas.microsoft.com/office/powerpoint/2010/main" val="4059330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PHP if-else and switch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96537" y="3881520"/>
            <a:ext cx="802494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$age = </a:t>
            </a: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($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age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&lt;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“you are baby!"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 </a:t>
            </a:r>
            <a:r>
              <a:rPr lang="en-US" sz="1600" dirty="0" err="1">
                <a:solidFill>
                  <a:srgbClr val="0000CD"/>
                </a:solidFill>
                <a:latin typeface="Consolas"/>
              </a:rPr>
              <a:t>elseif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($age &gt; 10 and $age &lt;18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“You are grown up!"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“you are adult!"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96536" y="1274325"/>
            <a:ext cx="802494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$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favcolor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"red"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switch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($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favcolor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case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"red"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"Your favorite color is red!"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: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  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"Your favorite color is neither red, blue, nor green!"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1255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PHP Loops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79186" y="1515838"/>
            <a:ext cx="802494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PHP </a:t>
            </a:r>
            <a:r>
              <a:rPr lang="en-US" sz="2400" dirty="0" err="1"/>
              <a:t>PHP</a:t>
            </a:r>
            <a:r>
              <a:rPr lang="en-US" sz="2400" dirty="0"/>
              <a:t> supports four different types of loops.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b="1" dirty="0"/>
              <a:t>while</a:t>
            </a:r>
            <a:r>
              <a:rPr lang="en-US" sz="2000" dirty="0"/>
              <a:t> — loops through a block of code as long as the condition specified evaluates to true.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b="1" dirty="0"/>
              <a:t>do…while</a:t>
            </a:r>
            <a:r>
              <a:rPr lang="en-US" sz="2000" dirty="0"/>
              <a:t> — the block of code executed once and then condition is evaluated. If the condition is true the statement is repeated as long as the specified condition is true.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b="1" dirty="0"/>
              <a:t>for</a:t>
            </a:r>
            <a:r>
              <a:rPr lang="en-US" sz="2000" dirty="0"/>
              <a:t> — loops through a block of code until the counter reaches a specified number.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sz="2000" b="1" dirty="0" err="1"/>
              <a:t>foreach</a:t>
            </a:r>
            <a:r>
              <a:rPr lang="en-US" sz="2000" dirty="0"/>
              <a:t> — loops through a block of code for each element in an array.</a:t>
            </a:r>
            <a:endParaRPr lang="en-US" dirty="0">
              <a:solidFill>
                <a:srgbClr val="FF0000"/>
              </a:solidFill>
              <a:latin typeface="Consolas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5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PHP for and </a:t>
            </a:r>
            <a:r>
              <a:rPr lang="en-US" sz="2600" b="1" dirty="0" err="1">
                <a:solidFill>
                  <a:schemeClr val="tx1"/>
                </a:solidFill>
              </a:rPr>
              <a:t>foreach</a:t>
            </a:r>
            <a:r>
              <a:rPr lang="en-US" sz="2600" b="1" dirty="0">
                <a:solidFill>
                  <a:schemeClr val="tx1"/>
                </a:solidFill>
              </a:rPr>
              <a:t>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65908" y="3241440"/>
            <a:ext cx="802494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$age =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array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"Peter"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=&gt;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"35"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"Ben"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=&gt;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"37"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"Joe"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=&gt;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"43"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>
                <a:solidFill>
                  <a:srgbClr val="0000CD"/>
                </a:solidFill>
                <a:latin typeface="Consolas"/>
              </a:rPr>
              <a:t>foreach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($age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$x =&gt; $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val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"$x = $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val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&lt;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596536" y="1274325"/>
            <a:ext cx="80249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600" dirty="0"/>
            </a:br>
            <a:r>
              <a:rPr lang="en-US" sz="1600" dirty="0">
                <a:solidFill>
                  <a:srgbClr val="0000CD"/>
                </a:solidFill>
                <a:latin typeface="Consolas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($x =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 $x &lt;= 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 $x++)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{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 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"The number is: $x &lt;</a:t>
            </a:r>
            <a:r>
              <a:rPr lang="en-US" sz="16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1600" dirty="0">
                <a:solidFill>
                  <a:srgbClr val="A52A2A"/>
                </a:solidFill>
                <a:latin typeface="Consolas"/>
              </a:rPr>
              <a:t>&gt;"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600" dirty="0"/>
            </a:br>
            <a:r>
              <a:rPr lang="en-US" sz="1600" dirty="0">
                <a:solidFill>
                  <a:srgbClr val="FF0000"/>
                </a:solidFill>
                <a:latin typeface="Consolas"/>
              </a:rPr>
              <a:t>?&gt;</a:t>
            </a:r>
            <a:endParaRPr lang="en-US" sz="1600" dirty="0">
              <a:solidFill>
                <a:srgbClr val="000000"/>
              </a:solidFill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495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/>
              <a:t>PHP Functions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13805" y="1394394"/>
            <a:ext cx="792915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PHP has more than 1000 built-in functions, and in addition you can create your own custom functions.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Write a Calculator: add, subtraction, multiplication and division as PHP function.</a:t>
            </a:r>
          </a:p>
          <a:p>
            <a:br>
              <a:rPr lang="en-US" sz="2000" dirty="0"/>
            </a:br>
            <a:r>
              <a:rPr lang="en-US" sz="1400" dirty="0">
                <a:solidFill>
                  <a:srgbClr val="FF0000"/>
                </a:solidFill>
                <a:latin typeface="Consolas"/>
              </a:rPr>
              <a:t>&lt;?</a:t>
            </a:r>
            <a:r>
              <a:rPr lang="en-US" sz="1400" dirty="0" err="1">
                <a:solidFill>
                  <a:srgbClr val="FF0000"/>
                </a:solidFill>
                <a:latin typeface="Consolas"/>
              </a:rPr>
              <a:t>php</a:t>
            </a:r>
            <a:br>
              <a:rPr lang="en-US" sz="1400" dirty="0"/>
            </a:br>
            <a:r>
              <a:rPr lang="en-US" sz="1400" dirty="0">
                <a:solidFill>
                  <a:srgbClr val="0000CD"/>
                </a:solidFill>
                <a:latin typeface="Consolas"/>
              </a:rPr>
              <a:t>function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add(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$a,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$b) {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1400" dirty="0">
                <a:solidFill>
                  <a:srgbClr val="0000CD"/>
                </a:solidFill>
                <a:latin typeface="Consolas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$a + $b;</a:t>
            </a:r>
            <a:br>
              <a:rPr lang="en-US" sz="1400" dirty="0"/>
            </a:b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  <a:br>
              <a:rPr lang="en-US" sz="1400" dirty="0"/>
            </a:br>
            <a:r>
              <a:rPr lang="en-US" sz="1400" dirty="0">
                <a:solidFill>
                  <a:srgbClr val="0000CD"/>
                </a:solidFill>
                <a:latin typeface="Consolas"/>
              </a:rPr>
              <a:t>echo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 add(</a:t>
            </a:r>
            <a:r>
              <a:rPr lang="en-US" sz="1400" dirty="0">
                <a:solidFill>
                  <a:srgbClr val="FF0000"/>
                </a:solidFill>
                <a:latin typeface="Consolas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 </a:t>
            </a:r>
            <a:r>
              <a:rPr lang="en-US" sz="1400" dirty="0">
                <a:solidFill>
                  <a:srgbClr val="A52A2A"/>
                </a:solidFill>
                <a:latin typeface="Consolas"/>
              </a:rPr>
              <a:t>5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  <a:br>
              <a:rPr lang="en-US" sz="1400" dirty="0"/>
            </a:br>
            <a:r>
              <a:rPr lang="en-US" sz="1400" dirty="0">
                <a:solidFill>
                  <a:srgbClr val="FF0000"/>
                </a:solidFill>
                <a:latin typeface="Consolas"/>
              </a:rPr>
              <a:t>?&gt;</a:t>
            </a:r>
            <a:endParaRPr lang="en-US" altLang="en-US" sz="1400" dirty="0">
              <a:latin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2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PHP class and Object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465906" y="2614606"/>
            <a:ext cx="80249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&lt;?</a:t>
            </a:r>
            <a:r>
              <a:rPr lang="en-US" sz="1600" dirty="0" err="1">
                <a:solidFill>
                  <a:srgbClr val="FF0000"/>
                </a:solidFill>
                <a:latin typeface="Consolas" pitchFamily="49" charset="0"/>
              </a:rPr>
              <a:t>php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Student{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Student($id) {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     $this-&gt;id = </a:t>
            </a:r>
            <a:r>
              <a:rPr lang="en-US" sz="1600" dirty="0">
                <a:solidFill>
                  <a:srgbClr val="A52A2A"/>
                </a:solidFill>
                <a:latin typeface="Consolas" pitchFamily="49" charset="0"/>
              </a:rPr>
              <a:t>$id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       $this-&gt;name = $name;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   }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}</a:t>
            </a:r>
            <a:br>
              <a:rPr lang="en-US" sz="1600" dirty="0">
                <a:latin typeface="Consolas" pitchFamily="49" charset="0"/>
              </a:rPr>
            </a:b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8000"/>
                </a:solidFill>
                <a:latin typeface="Consolas" pitchFamily="49" charset="0"/>
              </a:rPr>
              <a:t>// create an object</a:t>
            </a:r>
            <a:br>
              <a:rPr lang="en-US" sz="1600" dirty="0">
                <a:solidFill>
                  <a:srgbClr val="008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richard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= </a:t>
            </a: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Student(100,”Richard”);</a:t>
            </a:r>
            <a:br>
              <a:rPr lang="en-US" sz="1600" dirty="0">
                <a:latin typeface="Consolas" pitchFamily="49" charset="0"/>
              </a:rPr>
            </a:b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008000"/>
                </a:solidFill>
                <a:latin typeface="Consolas" pitchFamily="49" charset="0"/>
              </a:rPr>
              <a:t>// show object properties</a:t>
            </a:r>
            <a:br>
              <a:rPr lang="en-US" sz="1600" dirty="0">
                <a:solidFill>
                  <a:srgbClr val="008000"/>
                </a:solidFill>
                <a:latin typeface="Consolas" pitchFamily="49" charset="0"/>
              </a:rPr>
            </a:br>
            <a:r>
              <a:rPr lang="en-US" sz="1600" dirty="0">
                <a:solidFill>
                  <a:srgbClr val="0000CD"/>
                </a:solidFill>
                <a:latin typeface="Consolas" pitchFamily="49" charset="0"/>
              </a:rPr>
              <a:t>echo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 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richard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var_dump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($</a:t>
            </a:r>
            <a:r>
              <a:rPr lang="en-US" sz="1600" dirty="0" err="1">
                <a:solidFill>
                  <a:srgbClr val="000000"/>
                </a:solidFill>
                <a:latin typeface="Consolas" pitchFamily="49" charset="0"/>
              </a:rPr>
              <a:t>richard</a:t>
            </a:r>
            <a:r>
              <a:rPr lang="en-US" sz="1600" dirty="0">
                <a:solidFill>
                  <a:srgbClr val="000000"/>
                </a:solidFill>
                <a:latin typeface="Consolas" pitchFamily="49" charset="0"/>
              </a:rPr>
              <a:t>);</a:t>
            </a:r>
            <a:br>
              <a:rPr lang="en-US" sz="1600" dirty="0">
                <a:latin typeface="Consolas" pitchFamily="49" charset="0"/>
              </a:rPr>
            </a:br>
            <a:r>
              <a:rPr lang="en-US" sz="1600" dirty="0">
                <a:solidFill>
                  <a:srgbClr val="FF0000"/>
                </a:solidFill>
                <a:latin typeface="Consolas" pitchFamily="49" charset="0"/>
              </a:rPr>
              <a:t>?&gt;</a:t>
            </a:r>
            <a:endParaRPr lang="en-US" sz="1600" dirty="0">
              <a:latin typeface="Consolas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13805" y="1224576"/>
            <a:ext cx="79291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In PHP, an object must be explicitly declared.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b="1" dirty="0"/>
              <a:t>Write a Employee class which has employee id, employee name and salary attributes; also has constructor, getter, setter and one print function to print the object.</a:t>
            </a:r>
          </a:p>
        </p:txBody>
      </p:sp>
    </p:spTree>
    <p:extLst>
      <p:ext uri="{BB962C8B-B14F-4D97-AF65-F5344CB8AC3E}">
        <p14:creationId xmlns:p14="http://schemas.microsoft.com/office/powerpoint/2010/main" val="2976684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>
                <a:hlinkClick r:id="rId2"/>
              </a:rPr>
              <a:t>https://www.ntu.edu.sg/home/ehchua/programming/webprogramming/HTTP_Basics.html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https://developer.mozilla.org/enUS/docs/Web/HTTP/Status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https://www.w3schools.com/html/html_intro.asp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https://www.w3schools.com/html/html_xhtml.asp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01BC6FF-AE9A-471A-89D1-A8A1B10EA897}"/>
</file>

<file path=customXml/itemProps2.xml><?xml version="1.0" encoding="utf-8"?>
<ds:datastoreItem xmlns:ds="http://schemas.openxmlformats.org/officeDocument/2006/customXml" ds:itemID="{D41CB7F2-F0F3-4D83-B427-5811D443A2C6}"/>
</file>

<file path=customXml/itemProps3.xml><?xml version="1.0" encoding="utf-8"?>
<ds:datastoreItem xmlns:ds="http://schemas.openxmlformats.org/officeDocument/2006/customXml" ds:itemID="{64F26CA1-A395-40D3-AB94-24920257D690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318</TotalTime>
  <Words>1380</Words>
  <Application>Microsoft Office PowerPoint</Application>
  <PresentationFormat>On-screen Show (4:3)</PresentationFormat>
  <Paragraphs>115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Introduction to PHP</vt:lpstr>
      <vt:lpstr>Introduction to PHP</vt:lpstr>
      <vt:lpstr>Learning Objectives</vt:lpstr>
      <vt:lpstr>PHP Installation and Run</vt:lpstr>
      <vt:lpstr>PHP Language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MD. MUSTAK UN NOBI</cp:lastModifiedBy>
  <cp:revision>100</cp:revision>
  <dcterms:created xsi:type="dcterms:W3CDTF">2018-12-10T17:20:29Z</dcterms:created>
  <dcterms:modified xsi:type="dcterms:W3CDTF">2024-10-28T16:53:06Z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